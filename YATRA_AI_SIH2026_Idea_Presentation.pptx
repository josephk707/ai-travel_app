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62" r:id="rId19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E546j3bSQMPPDU1JlwRXeeoQM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2" Type="http://schemas.openxmlformats.org/officeDocument/2006/relationships/font" Target="fonts/Garamond-regular.fntdata"/><Relationship Id="rId13" Type="http://schemas.openxmlformats.org/officeDocument/2006/relationships/font" Target="fonts/Garamond-bold.fntdata"/><Relationship Id="rId14" Type="http://schemas.openxmlformats.org/officeDocument/2006/relationships/font" Target="fonts/Garamond-italic.fntdata"/><Relationship Id="rId15" Type="http://schemas.openxmlformats.org/officeDocument/2006/relationships/font" Target="fonts/Garamond-boldItalic.fntdata"/><Relationship Id="rId16" Type="http://schemas.openxmlformats.org/officeDocument/2006/relationships/font" Target="fonts/Oswald-regular.fntdata"/><Relationship Id="rId17" Type="http://schemas.openxmlformats.org/officeDocument/2006/relationships/font" Target="fonts/Oswald-bold.fntdata"/><Relationship Id="rId18" Type="http://customschemas.google.com/relationships/presentationmetadata" Target="metadata"/><Relationship Id="rId19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Software/Hardware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(Registered on portal)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www.sih.gov.in/img1/SIH-Logo.png"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41366" y="62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03" name="Google Shape;103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3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05" name="Google Shape;105;p3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Retrieval Rebels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sih.gov.in/img1/SIH-Logo.png"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Rectangle 106"/>
          <p:cNvSpPr/>
          <p:nvPr/>
        </p:nvSpPr>
        <p:spPr>
          <a:xfrm>
            <a:off x="411480" y="1207008"/>
            <a:ext cx="146304" cy="12344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0936" y="118414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TECHNOLOGIES  ·  ONE STACK, TOP TO BOTTOM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11480" y="1444752"/>
            <a:ext cx="571500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39496" y="15270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0070C0"/>
                </a:solidFill>
                <a:latin typeface="Arial"/>
              </a:rPr>
              <a:t>MOBILE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709928" y="1508760"/>
            <a:ext cx="4288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React Native + Expo · TypeScript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709928" y="1709928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00" b="0" i="0">
                <a:solidFill>
                  <a:srgbClr val="595959"/>
                </a:solidFill>
                <a:latin typeface="Arial"/>
              </a:rPr>
              <a:t>28 screens · 6 UI languages · session in device secure storage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11480" y="1970532"/>
            <a:ext cx="5715000" cy="493776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39496" y="205282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0070C0"/>
                </a:solidFill>
                <a:latin typeface="Arial"/>
              </a:rPr>
              <a:t>API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709928" y="2034540"/>
            <a:ext cx="4288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FastAPI  /v1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709928" y="2235708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00" b="0" i="0">
                <a:solidFill>
                  <a:srgbClr val="595959"/>
                </a:solidFill>
                <a:latin typeface="Arial"/>
              </a:rPr>
              <a:t>21 routers · 73 endpoints · ES256 token verification via JWKS · one response envelope · per-user rate limit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11480" y="2532888"/>
            <a:ext cx="5715000" cy="530352"/>
          </a:xfrm>
          <a:prstGeom prst="roundRect">
            <a:avLst>
              <a:gd name="adj" fmla="val 10344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39496" y="261518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0070C0"/>
                </a:solidFill>
                <a:latin typeface="Arial"/>
              </a:rPr>
              <a:t>SERVICES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709928" y="2596896"/>
            <a:ext cx="4288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35 modules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709928" y="2798064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00" b="0" i="0">
                <a:solidFill>
                  <a:srgbClr val="595959"/>
                </a:solidFill>
                <a:latin typeface="Arial"/>
              </a:rPr>
              <a:t>itinerary · modification · narration · photo Q&amp;A · personalization · business rules · location · safety · budget · group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11480" y="3131820"/>
            <a:ext cx="5715000" cy="786384"/>
          </a:xfrm>
          <a:prstGeom prst="roundRect">
            <a:avLst>
              <a:gd name="adj" fmla="val 6976"/>
            </a:avLst>
          </a:prstGeom>
          <a:solidFill>
            <a:srgbClr val="E8F1F9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39496" y="321411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0070C0"/>
                </a:solidFill>
                <a:latin typeface="Arial"/>
              </a:rPr>
              <a:t>LLM GATEWAY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709928" y="3195828"/>
            <a:ext cx="4288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one Protocol:  complete · complete_multimodal · complete_audio · embed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709928" y="3534156"/>
            <a:ext cx="2098548" cy="347472"/>
          </a:xfrm>
          <a:prstGeom prst="roundRect">
            <a:avLst>
              <a:gd name="adj" fmla="val 15789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801368" y="3570732"/>
            <a:ext cx="191566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Gemini adapter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801368" y="3717036"/>
            <a:ext cx="191566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FFFFFF"/>
                </a:solidFill>
                <a:latin typeface="Arial"/>
              </a:rPr>
              <a:t>the only file that imports a vendor SDK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936491" y="3534156"/>
            <a:ext cx="20985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027931" y="3570732"/>
            <a:ext cx="191566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595959"/>
                </a:solidFill>
                <a:latin typeface="Arial"/>
              </a:rPr>
              <a:t>second provider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027931" y="3717036"/>
            <a:ext cx="191566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one adapter class — the vendor is a config value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11480" y="3986784"/>
            <a:ext cx="5715000" cy="475488"/>
          </a:xfrm>
          <a:prstGeom prst="roundRect">
            <a:avLst>
              <a:gd name="adj" fmla="val 11538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39496" y="406908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0070C0"/>
                </a:solidFill>
                <a:latin typeface="Arial"/>
              </a:rPr>
              <a:t>DATA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709928" y="4050792"/>
            <a:ext cx="4288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Supabase Postgres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709928" y="4251960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00" b="0" i="0">
                <a:solidFill>
                  <a:srgbClr val="595959"/>
                </a:solidFill>
                <a:latin typeface="Arial"/>
              </a:rPr>
              <a:t>38 tables · Row-Level Security on 37 · PostGIS · pgvector(1536)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11480" y="4530852"/>
            <a:ext cx="5715000" cy="420624"/>
          </a:xfrm>
          <a:prstGeom prst="roundRect">
            <a:avLst>
              <a:gd name="adj" fmla="val 13043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39496" y="46131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0070C0"/>
                </a:solidFill>
                <a:latin typeface="Arial"/>
              </a:rPr>
              <a:t>EXTERNAL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709928" y="4640580"/>
            <a:ext cx="1088136" cy="237744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700" b="0" i="0">
                <a:solidFill>
                  <a:srgbClr val="595959"/>
                </a:solidFill>
                <a:latin typeface="Arial"/>
              </a:rPr>
              <a:t>Geoapify Places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889504" y="4640580"/>
            <a:ext cx="804672" cy="237744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700" b="0" i="0">
                <a:solidFill>
                  <a:srgbClr val="595959"/>
                </a:solidFill>
                <a:latin typeface="Arial"/>
              </a:rPr>
              <a:t>Open-Meteo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785616" y="4640580"/>
            <a:ext cx="1144828" cy="237744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700" b="0" i="0">
                <a:solidFill>
                  <a:srgbClr val="595959"/>
                </a:solidFill>
                <a:latin typeface="Arial"/>
              </a:rPr>
              <a:t>Supabase Storage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021884" y="4640580"/>
            <a:ext cx="747979" cy="237744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700" b="0" i="0">
                <a:solidFill>
                  <a:srgbClr val="595959"/>
                </a:solidFill>
                <a:latin typeface="Arial"/>
              </a:rPr>
              <a:t>Expo Push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446520" y="1207008"/>
            <a:ext cx="146304" cy="12344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665976" y="1184148"/>
            <a:ext cx="5111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METHODOLOGY  ·  HOW A PLAN IS BUILT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446520" y="1444752"/>
            <a:ext cx="5330952" cy="329184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556248" y="1531620"/>
            <a:ext cx="155448" cy="155448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556248" y="1549908"/>
            <a:ext cx="1554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793992" y="1531620"/>
            <a:ext cx="48554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Rule-filtered candidates pulled from the database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446520" y="1833372"/>
            <a:ext cx="5330952" cy="329184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556248" y="1920240"/>
            <a:ext cx="155448" cy="155448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556248" y="1938528"/>
            <a:ext cx="1554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793992" y="1920240"/>
            <a:ext cx="48554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The prompt carries them as a numbered list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446520" y="2221991"/>
            <a:ext cx="5330952" cy="329184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556248" y="2308860"/>
            <a:ext cx="155448" cy="155448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556248" y="2327148"/>
            <a:ext cx="1554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793992" y="2308860"/>
            <a:ext cx="48554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Structured output, validated against a schema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446520" y="2610611"/>
            <a:ext cx="5330952" cy="329184"/>
          </a:xfrm>
          <a:prstGeom prst="roundRect">
            <a:avLst>
              <a:gd name="adj" fmla="val 16666"/>
            </a:avLst>
          </a:prstGeom>
          <a:solidFill>
            <a:srgbClr val="E8F1F9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556248" y="2697479"/>
            <a:ext cx="155448" cy="15544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556248" y="2715768"/>
            <a:ext cx="1554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93992" y="2697479"/>
            <a:ext cx="48554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Any out-of-range index is rejected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446520" y="2999231"/>
            <a:ext cx="5330952" cy="329184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556248" y="3086099"/>
            <a:ext cx="155448" cy="155448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556248" y="3104387"/>
            <a:ext cx="1554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793992" y="3086099"/>
            <a:ext cx="48554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Deterministic rule validator runs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446520" y="3387851"/>
            <a:ext cx="5330952" cy="329184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556248" y="3474719"/>
            <a:ext cx="155448" cy="155448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556248" y="3493007"/>
            <a:ext cx="1554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793992" y="3474719"/>
            <a:ext cx="48554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Persisted, day by day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446520" y="3794759"/>
            <a:ext cx="5330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The model composes.  The database and the validator decide.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446520" y="4123943"/>
            <a:ext cx="146304" cy="12344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665976" y="4101083"/>
            <a:ext cx="5111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WHEN THE AI FAILS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446520" y="4361687"/>
            <a:ext cx="5330952" cy="256032"/>
          </a:xfrm>
          <a:prstGeom prst="roundRect">
            <a:avLst>
              <a:gd name="adj" fmla="val 21428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574536" y="4411979"/>
            <a:ext cx="4965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Model responds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574536" y="4668011"/>
            <a:ext cx="5202936" cy="256032"/>
          </a:xfrm>
          <a:prstGeom prst="roundRect">
            <a:avLst>
              <a:gd name="adj" fmla="val 21428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702551" y="4718303"/>
            <a:ext cx="4965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Model fails or times out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702552" y="4974335"/>
            <a:ext cx="5074920" cy="256032"/>
          </a:xfrm>
          <a:prstGeom prst="roundRect">
            <a:avLst>
              <a:gd name="adj" fmla="val 21428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830568" y="5024627"/>
            <a:ext cx="4965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Deterministic plan from real database places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830568" y="5280659"/>
            <a:ext cx="4946904" cy="256032"/>
          </a:xfrm>
          <a:prstGeom prst="roundRect">
            <a:avLst>
              <a:gd name="adj" fmla="val 21428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958583" y="5330951"/>
            <a:ext cx="4965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 i="0">
                <a:solidFill>
                  <a:srgbClr val="C0504D"/>
                </a:solidFill>
                <a:latin typeface="Arial"/>
              </a:rPr>
              <a:t>Honest error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446520" y="5605271"/>
            <a:ext cx="5330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It never fabricates a success.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411480" y="4992624"/>
            <a:ext cx="5715000" cy="1078992"/>
          </a:xfrm>
          <a:prstGeom prst="roundRect">
            <a:avLst>
              <a:gd name="adj" fmla="val 5084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539496" y="5074920"/>
            <a:ext cx="5458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0070C0"/>
                </a:solidFill>
                <a:latin typeface="Arial"/>
              </a:rPr>
              <a:t>ENGINEERING GUARANTEES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57784" y="5285232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70C0"/>
                </a:solidFill>
                <a:latin typeface="Arial"/>
              </a:rPr>
              <a:t>•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85800" y="5285232"/>
            <a:ext cx="52943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A vendor SDK is imported in exactly one file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57784" y="5468112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70C0"/>
                </a:solidFill>
                <a:latin typeface="Arial"/>
              </a:rPr>
              <a:t>•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85800" y="5468112"/>
            <a:ext cx="52943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9 versioned prompt modules — no prompt is written inline in a service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57784" y="5650992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70C0"/>
                </a:solidFill>
                <a:latin typeface="Arial"/>
              </a:rPr>
              <a:t>•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85800" y="5650992"/>
            <a:ext cx="52943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Every structured output passes through one parse-and-validate choke point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57784" y="5833872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70C0"/>
                </a:solidFill>
                <a:latin typeface="Arial"/>
              </a:rPr>
              <a:t>•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85800" y="5833872"/>
            <a:ext cx="52943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Confidence comes from retrieval similarity — never from asking the model if it is 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15" name="Google Shape;115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6" name="Google Shape;116;p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17" name="Google Shape;117;p4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Retrieval Rebels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sih.gov.in/img1/SIH-Logo.png"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Rectangle 118"/>
          <p:cNvSpPr/>
          <p:nvPr/>
        </p:nvSpPr>
        <p:spPr>
          <a:xfrm>
            <a:off x="411480" y="1207008"/>
            <a:ext cx="146304" cy="12344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30936" y="118414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FEASIBILITY  ·  ALREADY BUILT AND RUNNING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092854" y="1193292"/>
            <a:ext cx="768461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we mark our own gaps rather than hide them</a:t>
            </a:r>
          </a:p>
        </p:txBody>
      </p:sp>
      <p:sp>
        <p:nvSpPr>
          <p:cNvPr id="122" name="Oval 121"/>
          <p:cNvSpPr/>
          <p:nvPr/>
        </p:nvSpPr>
        <p:spPr>
          <a:xfrm>
            <a:off x="411480" y="1472184"/>
            <a:ext cx="91440" cy="91440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57784" y="1435608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Live</a:t>
            </a:r>
          </a:p>
        </p:txBody>
      </p:sp>
      <p:sp>
        <p:nvSpPr>
          <p:cNvPr id="124" name="Oval 123"/>
          <p:cNvSpPr/>
          <p:nvPr/>
        </p:nvSpPr>
        <p:spPr>
          <a:xfrm>
            <a:off x="2468880" y="1472184"/>
            <a:ext cx="91440" cy="91440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615184" y="1435608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Live, limited</a:t>
            </a:r>
          </a:p>
        </p:txBody>
      </p:sp>
      <p:sp>
        <p:nvSpPr>
          <p:cNvPr id="126" name="Oval 125"/>
          <p:cNvSpPr/>
          <p:nvPr/>
        </p:nvSpPr>
        <p:spPr>
          <a:xfrm>
            <a:off x="4526280" y="1472184"/>
            <a:ext cx="91440" cy="91440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672584" y="1435608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Built, awaiting a credential</a:t>
            </a:r>
          </a:p>
        </p:txBody>
      </p:sp>
      <p:sp>
        <p:nvSpPr>
          <p:cNvPr id="128" name="Oval 127"/>
          <p:cNvSpPr/>
          <p:nvPr/>
        </p:nvSpPr>
        <p:spPr>
          <a:xfrm>
            <a:off x="6583680" y="1472184"/>
            <a:ext cx="91440" cy="91440"/>
          </a:xfrm>
          <a:prstGeom prst="ellipse">
            <a:avLst/>
          </a:prstGeom>
          <a:noFill/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729984" y="1435608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Roadmap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11480" y="1682496"/>
            <a:ext cx="21781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1F497D"/>
                </a:solidFill>
                <a:latin typeface="Arial"/>
              </a:rPr>
              <a:t>IDENTITY &amp; PROFILE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411480" y="1874520"/>
            <a:ext cx="2178100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420624" y="1997964"/>
            <a:ext cx="82296" cy="82296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57784" y="1956816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Google sign-in · JWKS verified</a:t>
            </a:r>
          </a:p>
        </p:txBody>
      </p:sp>
      <p:sp>
        <p:nvSpPr>
          <p:cNvPr id="134" name="Oval 133"/>
          <p:cNvSpPr/>
          <p:nvPr/>
        </p:nvSpPr>
        <p:spPr>
          <a:xfrm>
            <a:off x="420624" y="2253996"/>
            <a:ext cx="82296" cy="82296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57784" y="2212848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Onboarding → traveller profile</a:t>
            </a:r>
          </a:p>
        </p:txBody>
      </p:sp>
      <p:sp>
        <p:nvSpPr>
          <p:cNvPr id="136" name="Oval 135"/>
          <p:cNvSpPr/>
          <p:nvPr/>
        </p:nvSpPr>
        <p:spPr>
          <a:xfrm>
            <a:off x="420624" y="2510028"/>
            <a:ext cx="82296" cy="82296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57784" y="2468880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Travel DNA</a:t>
            </a:r>
          </a:p>
        </p:txBody>
      </p:sp>
      <p:sp>
        <p:nvSpPr>
          <p:cNvPr id="138" name="Oval 137"/>
          <p:cNvSpPr/>
          <p:nvPr/>
        </p:nvSpPr>
        <p:spPr>
          <a:xfrm>
            <a:off x="420624" y="2766060"/>
            <a:ext cx="82296" cy="82296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57784" y="2724912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Row-Level Security, 37 tables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708452" y="1682496"/>
            <a:ext cx="21781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1F497D"/>
                </a:solidFill>
                <a:latin typeface="Arial"/>
              </a:rPr>
              <a:t>PLANNING &amp; AI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2708452" y="1874520"/>
            <a:ext cx="2178101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/>
          <p:cNvSpPr/>
          <p:nvPr/>
        </p:nvSpPr>
        <p:spPr>
          <a:xfrm>
            <a:off x="2717596" y="1997964"/>
            <a:ext cx="82296" cy="82296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854756" y="1956816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AI itinerary generation</a:t>
            </a:r>
          </a:p>
        </p:txBody>
      </p:sp>
      <p:sp>
        <p:nvSpPr>
          <p:cNvPr id="144" name="Oval 143"/>
          <p:cNvSpPr/>
          <p:nvPr/>
        </p:nvSpPr>
        <p:spPr>
          <a:xfrm>
            <a:off x="2717596" y="2253996"/>
            <a:ext cx="82296" cy="82296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854756" y="2212848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Idea extraction from free text</a:t>
            </a:r>
          </a:p>
        </p:txBody>
      </p:sp>
      <p:sp>
        <p:nvSpPr>
          <p:cNvPr id="146" name="Oval 145"/>
          <p:cNvSpPr/>
          <p:nvPr/>
        </p:nvSpPr>
        <p:spPr>
          <a:xfrm>
            <a:off x="2717596" y="2510028"/>
            <a:ext cx="82296" cy="82296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854756" y="2468880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Conversational modification</a:t>
            </a:r>
          </a:p>
        </p:txBody>
      </p:sp>
      <p:sp>
        <p:nvSpPr>
          <p:cNvPr id="148" name="Oval 147"/>
          <p:cNvSpPr/>
          <p:nvPr/>
        </p:nvSpPr>
        <p:spPr>
          <a:xfrm>
            <a:off x="2717596" y="2766060"/>
            <a:ext cx="82296" cy="82296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854756" y="2724912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Business-rule validator</a:t>
            </a:r>
          </a:p>
        </p:txBody>
      </p:sp>
      <p:sp>
        <p:nvSpPr>
          <p:cNvPr id="150" name="Oval 149"/>
          <p:cNvSpPr/>
          <p:nvPr/>
        </p:nvSpPr>
        <p:spPr>
          <a:xfrm>
            <a:off x="2717596" y="3022092"/>
            <a:ext cx="82296" cy="82296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854756" y="2980944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Budget estimate &amp; expense split</a:t>
            </a:r>
          </a:p>
        </p:txBody>
      </p:sp>
      <p:sp>
        <p:nvSpPr>
          <p:cNvPr id="152" name="Oval 151"/>
          <p:cNvSpPr/>
          <p:nvPr/>
        </p:nvSpPr>
        <p:spPr>
          <a:xfrm>
            <a:off x="2717596" y="3278124"/>
            <a:ext cx="82296" cy="82296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854756" y="3236976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Group planning &amp; reconciliation</a:t>
            </a:r>
          </a:p>
        </p:txBody>
      </p:sp>
      <p:sp>
        <p:nvSpPr>
          <p:cNvPr id="154" name="Oval 153"/>
          <p:cNvSpPr/>
          <p:nvPr/>
        </p:nvSpPr>
        <p:spPr>
          <a:xfrm>
            <a:off x="2717596" y="3534156"/>
            <a:ext cx="82296" cy="82296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854756" y="3493008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Quick Plan (local outing)</a:t>
            </a:r>
          </a:p>
        </p:txBody>
      </p:sp>
      <p:sp>
        <p:nvSpPr>
          <p:cNvPr id="156" name="Oval 155"/>
          <p:cNvSpPr/>
          <p:nvPr/>
        </p:nvSpPr>
        <p:spPr>
          <a:xfrm>
            <a:off x="2717596" y="3790188"/>
            <a:ext cx="82296" cy="82296"/>
          </a:xfrm>
          <a:prstGeom prst="ellipse">
            <a:avLst/>
          </a:prstGeom>
          <a:noFill/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854756" y="3749040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Learned ranking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005425" y="1682496"/>
            <a:ext cx="21781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1F497D"/>
                </a:solidFill>
                <a:latin typeface="Arial"/>
              </a:rPr>
              <a:t>ON-SITE COMPANION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5005425" y="1874520"/>
            <a:ext cx="2178101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Oval 159"/>
          <p:cNvSpPr/>
          <p:nvPr/>
        </p:nvSpPr>
        <p:spPr>
          <a:xfrm>
            <a:off x="5014569" y="1997964"/>
            <a:ext cx="82296" cy="82296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151729" y="1956816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Location consent &amp; arrival</a:t>
            </a:r>
          </a:p>
        </p:txBody>
      </p:sp>
      <p:sp>
        <p:nvSpPr>
          <p:cNvPr id="162" name="Oval 161"/>
          <p:cNvSpPr/>
          <p:nvPr/>
        </p:nvSpPr>
        <p:spPr>
          <a:xfrm>
            <a:off x="5014569" y="2253996"/>
            <a:ext cx="82296" cy="82296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151729" y="2212848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Nearby recommendations</a:t>
            </a:r>
          </a:p>
        </p:txBody>
      </p:sp>
      <p:sp>
        <p:nvSpPr>
          <p:cNvPr id="164" name="Oval 163"/>
          <p:cNvSpPr/>
          <p:nvPr/>
        </p:nvSpPr>
        <p:spPr>
          <a:xfrm>
            <a:off x="5014569" y="2510028"/>
            <a:ext cx="82296" cy="82296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151729" y="2468880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Live weather</a:t>
            </a:r>
          </a:p>
        </p:txBody>
      </p:sp>
      <p:sp>
        <p:nvSpPr>
          <p:cNvPr id="166" name="Oval 165"/>
          <p:cNvSpPr/>
          <p:nvPr/>
        </p:nvSpPr>
        <p:spPr>
          <a:xfrm>
            <a:off x="5014569" y="2766060"/>
            <a:ext cx="82296" cy="82296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151729" y="2724912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Maps &amp; POI discovery</a:t>
            </a:r>
          </a:p>
        </p:txBody>
      </p:sp>
      <p:sp>
        <p:nvSpPr>
          <p:cNvPr id="168" name="Oval 167"/>
          <p:cNvSpPr/>
          <p:nvPr/>
        </p:nvSpPr>
        <p:spPr>
          <a:xfrm>
            <a:off x="5014569" y="3022092"/>
            <a:ext cx="82296" cy="82296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151729" y="2980944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Weather-driven adaptation</a:t>
            </a:r>
          </a:p>
        </p:txBody>
      </p:sp>
      <p:sp>
        <p:nvSpPr>
          <p:cNvPr id="170" name="Oval 169"/>
          <p:cNvSpPr/>
          <p:nvPr/>
        </p:nvSpPr>
        <p:spPr>
          <a:xfrm>
            <a:off x="5014569" y="3278124"/>
            <a:ext cx="82296" cy="82296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151729" y="3236976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Safety / SOS &amp; location share</a:t>
            </a:r>
          </a:p>
        </p:txBody>
      </p:sp>
      <p:sp>
        <p:nvSpPr>
          <p:cNvPr id="172" name="Oval 171"/>
          <p:cNvSpPr/>
          <p:nvPr/>
        </p:nvSpPr>
        <p:spPr>
          <a:xfrm>
            <a:off x="5014569" y="3534156"/>
            <a:ext cx="82296" cy="82296"/>
          </a:xfrm>
          <a:prstGeom prst="ellipse">
            <a:avLst/>
          </a:prstGeom>
          <a:noFill/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5151729" y="3493008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Background tracking</a:t>
            </a:r>
          </a:p>
        </p:txBody>
      </p:sp>
      <p:sp>
        <p:nvSpPr>
          <p:cNvPr id="174" name="Oval 173"/>
          <p:cNvSpPr/>
          <p:nvPr/>
        </p:nvSpPr>
        <p:spPr>
          <a:xfrm>
            <a:off x="5014569" y="3790188"/>
            <a:ext cx="82296" cy="82296"/>
          </a:xfrm>
          <a:prstGeom prst="ellipse">
            <a:avLst/>
          </a:prstGeom>
          <a:noFill/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151729" y="3749040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Proactive companion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302398" y="1682496"/>
            <a:ext cx="21781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1F497D"/>
                </a:solidFill>
                <a:latin typeface="Arial"/>
              </a:rPr>
              <a:t>HERITAGE &amp; LANGUAGE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7302398" y="1874520"/>
            <a:ext cx="2178101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Oval 177"/>
          <p:cNvSpPr/>
          <p:nvPr/>
        </p:nvSpPr>
        <p:spPr>
          <a:xfrm>
            <a:off x="7311542" y="1997964"/>
            <a:ext cx="82296" cy="82296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448702" y="1956816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Grounded narration + citation</a:t>
            </a:r>
          </a:p>
        </p:txBody>
      </p:sp>
      <p:sp>
        <p:nvSpPr>
          <p:cNvPr id="180" name="Oval 179"/>
          <p:cNvSpPr/>
          <p:nvPr/>
        </p:nvSpPr>
        <p:spPr>
          <a:xfrm>
            <a:off x="7311542" y="2253996"/>
            <a:ext cx="82296" cy="82296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7448702" y="2212848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Confidence flagging</a:t>
            </a:r>
          </a:p>
        </p:txBody>
      </p:sp>
      <p:sp>
        <p:nvSpPr>
          <p:cNvPr id="182" name="Oval 181"/>
          <p:cNvSpPr/>
          <p:nvPr/>
        </p:nvSpPr>
        <p:spPr>
          <a:xfrm>
            <a:off x="7311542" y="2510028"/>
            <a:ext cx="82296" cy="82296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7448702" y="2468880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Photo Q&amp;A (multimodal)</a:t>
            </a:r>
          </a:p>
        </p:txBody>
      </p:sp>
      <p:sp>
        <p:nvSpPr>
          <p:cNvPr id="184" name="Oval 183"/>
          <p:cNvSpPr/>
          <p:nvPr/>
        </p:nvSpPr>
        <p:spPr>
          <a:xfrm>
            <a:off x="7311542" y="2766060"/>
            <a:ext cx="82296" cy="82296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7448702" y="2724912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Translation, 5 languages</a:t>
            </a:r>
          </a:p>
        </p:txBody>
      </p:sp>
      <p:sp>
        <p:nvSpPr>
          <p:cNvPr id="186" name="Oval 185"/>
          <p:cNvSpPr/>
          <p:nvPr/>
        </p:nvSpPr>
        <p:spPr>
          <a:xfrm>
            <a:off x="7311542" y="3022092"/>
            <a:ext cx="82296" cy="82296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7448702" y="2980944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Speech translation (batch)</a:t>
            </a:r>
          </a:p>
        </p:txBody>
      </p:sp>
      <p:sp>
        <p:nvSpPr>
          <p:cNvPr id="188" name="Oval 187"/>
          <p:cNvSpPr/>
          <p:nvPr/>
        </p:nvSpPr>
        <p:spPr>
          <a:xfrm>
            <a:off x="7311542" y="3278124"/>
            <a:ext cx="82296" cy="82296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7448702" y="3236976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Curated phrasebook</a:t>
            </a:r>
          </a:p>
        </p:txBody>
      </p:sp>
      <p:sp>
        <p:nvSpPr>
          <p:cNvPr id="190" name="Oval 189"/>
          <p:cNvSpPr/>
          <p:nvPr/>
        </p:nvSpPr>
        <p:spPr>
          <a:xfrm>
            <a:off x="7311542" y="3534156"/>
            <a:ext cx="82296" cy="82296"/>
          </a:xfrm>
          <a:prstGeom prst="ellipse">
            <a:avLst/>
          </a:prstGeom>
          <a:noFill/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448702" y="3493008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Semantic section navigation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9599371" y="1682496"/>
            <a:ext cx="21781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1F497D"/>
                </a:solidFill>
                <a:latin typeface="Arial"/>
              </a:rPr>
              <a:t>TRIPS, MEMORY &amp; SOCIAL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9599371" y="1874520"/>
            <a:ext cx="2178101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9608515" y="1997964"/>
            <a:ext cx="82296" cy="82296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9745675" y="1956816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Trips, favourites, collections</a:t>
            </a:r>
          </a:p>
        </p:txBody>
      </p:sp>
      <p:sp>
        <p:nvSpPr>
          <p:cNvPr id="196" name="Oval 195"/>
          <p:cNvSpPr/>
          <p:nvPr/>
        </p:nvSpPr>
        <p:spPr>
          <a:xfrm>
            <a:off x="9608515" y="2253996"/>
            <a:ext cx="82296" cy="82296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9745675" y="2212848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Reviews + admin moderation</a:t>
            </a:r>
          </a:p>
        </p:txBody>
      </p:sp>
      <p:sp>
        <p:nvSpPr>
          <p:cNvPr id="198" name="Oval 197"/>
          <p:cNvSpPr/>
          <p:nvPr/>
        </p:nvSpPr>
        <p:spPr>
          <a:xfrm>
            <a:off x="9608515" y="2510028"/>
            <a:ext cx="82296" cy="82296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745675" y="2468880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Memory Box + private storage</a:t>
            </a:r>
          </a:p>
        </p:txBody>
      </p:sp>
      <p:sp>
        <p:nvSpPr>
          <p:cNvPr id="200" name="Oval 199"/>
          <p:cNvSpPr/>
          <p:nvPr/>
        </p:nvSpPr>
        <p:spPr>
          <a:xfrm>
            <a:off x="9608515" y="2766060"/>
            <a:ext cx="82296" cy="82296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745675" y="2724912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Notifications</a:t>
            </a:r>
          </a:p>
        </p:txBody>
      </p:sp>
      <p:sp>
        <p:nvSpPr>
          <p:cNvPr id="202" name="Oval 201"/>
          <p:cNvSpPr/>
          <p:nvPr/>
        </p:nvSpPr>
        <p:spPr>
          <a:xfrm>
            <a:off x="9608515" y="3022092"/>
            <a:ext cx="82296" cy="82296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9745675" y="2980944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Offline package</a:t>
            </a:r>
          </a:p>
        </p:txBody>
      </p:sp>
      <p:sp>
        <p:nvSpPr>
          <p:cNvPr id="204" name="Oval 203"/>
          <p:cNvSpPr/>
          <p:nvPr/>
        </p:nvSpPr>
        <p:spPr>
          <a:xfrm>
            <a:off x="9608515" y="3278124"/>
            <a:ext cx="82296" cy="82296"/>
          </a:xfrm>
          <a:prstGeom prst="ellipse">
            <a:avLst/>
          </a:prstGeom>
          <a:noFill/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745675" y="3236976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Booking &amp; payments</a:t>
            </a:r>
          </a:p>
        </p:txBody>
      </p:sp>
      <p:sp>
        <p:nvSpPr>
          <p:cNvPr id="206" name="Oval 205"/>
          <p:cNvSpPr/>
          <p:nvPr/>
        </p:nvSpPr>
        <p:spPr>
          <a:xfrm>
            <a:off x="9608515" y="3534156"/>
            <a:ext cx="82296" cy="82296"/>
          </a:xfrm>
          <a:prstGeom prst="ellipse">
            <a:avLst/>
          </a:prstGeom>
          <a:noFill/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9745675" y="3493008"/>
            <a:ext cx="20135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AI trip recap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11480" y="418795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0070C0"/>
                </a:solidFill>
                <a:latin typeface="Arial"/>
              </a:rPr>
              <a:t>EVIDENCE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411480" y="4407408"/>
            <a:ext cx="2619756" cy="457200"/>
          </a:xfrm>
          <a:prstGeom prst="roundRect">
            <a:avLst>
              <a:gd name="adj" fmla="val 12000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21208" y="4453128"/>
            <a:ext cx="24003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73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521208" y="4654296"/>
            <a:ext cx="24003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versioned API endpoints across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21 routers, one error envelope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3140964" y="4407408"/>
            <a:ext cx="2619756" cy="457200"/>
          </a:xfrm>
          <a:prstGeom prst="roundRect">
            <a:avLst>
              <a:gd name="adj" fmla="val 12000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3250692" y="4453128"/>
            <a:ext cx="24003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38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3250692" y="4654296"/>
            <a:ext cx="24003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tables · 22 migrations ·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PostGIS + pgvector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411480" y="4919472"/>
            <a:ext cx="2619756" cy="457200"/>
          </a:xfrm>
          <a:prstGeom prst="roundRect">
            <a:avLst>
              <a:gd name="adj" fmla="val 12000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521208" y="4965192"/>
            <a:ext cx="24003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560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21208" y="5166360"/>
            <a:ext cx="24003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automated tests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(187 mobile + 373 backend)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3140964" y="4919472"/>
            <a:ext cx="2619756" cy="457200"/>
          </a:xfrm>
          <a:prstGeom prst="roundRect">
            <a:avLst>
              <a:gd name="adj" fmla="val 12000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3250692" y="4965192"/>
            <a:ext cx="24003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367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3250692" y="5166360"/>
            <a:ext cx="24003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passed against live Postgres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and a real model key, 06 Sep 2026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411480" y="5449824"/>
            <a:ext cx="5349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00" b="0" i="1">
                <a:solidFill>
                  <a:srgbClr val="595959"/>
                </a:solidFill>
                <a:latin typeface="Arial"/>
              </a:rPr>
              <a:t>That live run also exposed four real defects in our own code. We fixed them and kept the record.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989320" y="4187952"/>
            <a:ext cx="5788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0070C0"/>
                </a:solidFill>
                <a:latin typeface="Arial"/>
              </a:rPr>
              <a:t>CHALLENGES  →  HOW WE ALREADY HANDLE THEM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5989320" y="4407408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Arial"/>
              </a:rPr>
              <a:t>Model cost or quota runs out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7955279" y="4407408"/>
            <a:ext cx="38221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Provider abstraction · per-user rate limit · a deterministic non-AI plan built from real database places</a:t>
            </a:r>
          </a:p>
        </p:txBody>
      </p:sp>
      <p:cxnSp>
        <p:nvCxnSpPr>
          <p:cNvPr id="225" name="Connector 224"/>
          <p:cNvCxnSpPr/>
          <p:nvPr/>
        </p:nvCxnSpPr>
        <p:spPr>
          <a:xfrm>
            <a:off x="5989320" y="4695444"/>
            <a:ext cx="5788152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TextBox 225"/>
          <p:cNvSpPr txBox="1"/>
          <p:nvPr/>
        </p:nvSpPr>
        <p:spPr>
          <a:xfrm>
            <a:off x="5989320" y="4736592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Arial"/>
              </a:rPr>
              <a:t>The model invents a place or a fact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7955279" y="4736592"/>
            <a:ext cx="38221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Candidates are numbered; an out-of-range index is rejected before it is saved · narration is grounded in curated content</a:t>
            </a:r>
          </a:p>
        </p:txBody>
      </p:sp>
      <p:cxnSp>
        <p:nvCxnSpPr>
          <p:cNvPr id="228" name="Connector 227"/>
          <p:cNvCxnSpPr/>
          <p:nvPr/>
        </p:nvCxnSpPr>
        <p:spPr>
          <a:xfrm>
            <a:off x="5989320" y="5024628"/>
            <a:ext cx="5788152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TextBox 228"/>
          <p:cNvSpPr txBox="1"/>
          <p:nvPr/>
        </p:nvSpPr>
        <p:spPr>
          <a:xfrm>
            <a:off x="5989320" y="5065776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Arial"/>
              </a:rPr>
              <a:t>A third-party service goes down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7955279" y="5065776"/>
            <a:ext cx="38221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Every provider client collapses to one typed error · the client is told it is degraded, never shown a fake success</a:t>
            </a:r>
          </a:p>
        </p:txBody>
      </p:sp>
      <p:cxnSp>
        <p:nvCxnSpPr>
          <p:cNvPr id="231" name="Connector 230"/>
          <p:cNvCxnSpPr/>
          <p:nvPr/>
        </p:nvCxnSpPr>
        <p:spPr>
          <a:xfrm>
            <a:off x="5989320" y="5353812"/>
            <a:ext cx="5788152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extBox 231"/>
          <p:cNvSpPr txBox="1"/>
          <p:nvPr/>
        </p:nvSpPr>
        <p:spPr>
          <a:xfrm>
            <a:off x="5989320" y="5394960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Arial"/>
              </a:rPr>
              <a:t>The content catalogue is thin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7955279" y="5394960"/>
            <a:ext cx="38221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Curated-first seed scripts · admin publish flow · live Places augmentation when the cache is sparse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5989320" y="5682996"/>
            <a:ext cx="5788152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Rounded Rectangle 234"/>
          <p:cNvSpPr/>
          <p:nvPr/>
        </p:nvSpPr>
        <p:spPr>
          <a:xfrm>
            <a:off x="411480" y="5852160"/>
            <a:ext cx="11365992" cy="347472"/>
          </a:xfrm>
          <a:prstGeom prst="roundRect">
            <a:avLst>
              <a:gd name="adj" fmla="val 1578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539496" y="5934456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0070C0"/>
                </a:solidFill>
                <a:latin typeface="Arial"/>
              </a:rPr>
              <a:t>VIABILITY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709928" y="58933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00" b="0" i="0">
                <a:solidFill>
                  <a:srgbClr val="595959"/>
                </a:solidFill>
                <a:latin typeface="Arial"/>
              </a:rPr>
              <a:t>Hosted models only, nothing trained  ·  fast-tier model, caching and rate limits  ·  booking-partner path exists in the schema but is not required to prove the MVP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863840" y="5893308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00" b="1" i="0">
                <a:solidFill>
                  <a:srgbClr val="1F497D"/>
                </a:solidFill>
                <a:latin typeface="Arial"/>
              </a:rPr>
              <a:t>11 curated heritage sites across 9 cities today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00" b="1" i="0">
                <a:solidFill>
                  <a:srgbClr val="1F497D"/>
                </a:solidFill>
                <a:latin typeface="Arial"/>
              </a:rPr>
              <a:t>Target for launch: 6–7 destinations, 40–50 points of interest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27" name="Google Shape;127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29" name="Google Shape;129;p5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Retrieval Rebels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sih.gov.in/img1/SIH-Logo.png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Rectangle 130"/>
          <p:cNvSpPr/>
          <p:nvPr/>
        </p:nvSpPr>
        <p:spPr>
          <a:xfrm>
            <a:off x="411480" y="1207008"/>
            <a:ext cx="146304" cy="12344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30936" y="118414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WHAT CHANGES FOR THE TRAVELLER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11480" y="14813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595959"/>
                </a:solidFill>
                <a:latin typeface="Arial"/>
              </a:rPr>
              <a:t>TODAY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252728" y="1444752"/>
            <a:ext cx="932688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750" b="0" i="0">
                <a:solidFill>
                  <a:srgbClr val="595959"/>
                </a:solidFill>
                <a:latin typeface="Arial"/>
              </a:rPr>
              <a:t>Search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2267712" y="1444752"/>
            <a:ext cx="932688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750" b="0" i="0">
                <a:solidFill>
                  <a:srgbClr val="595959"/>
                </a:solidFill>
                <a:latin typeface="Arial"/>
              </a:rPr>
              <a:t>Maps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282696" y="1444752"/>
            <a:ext cx="932688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750" b="0" i="0">
                <a:solidFill>
                  <a:srgbClr val="595959"/>
                </a:solidFill>
                <a:latin typeface="Arial"/>
              </a:rPr>
              <a:t>OTA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297680" y="1444752"/>
            <a:ext cx="932688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750" b="0" i="0">
                <a:solidFill>
                  <a:srgbClr val="595959"/>
                </a:solidFill>
                <a:latin typeface="Arial"/>
              </a:rPr>
              <a:t>Reviews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312664" y="1444752"/>
            <a:ext cx="932688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750" b="0" i="0">
                <a:solidFill>
                  <a:srgbClr val="595959"/>
                </a:solidFill>
                <a:latin typeface="Arial"/>
              </a:rPr>
              <a:t>Notes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327648" y="1444752"/>
            <a:ext cx="932688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750" b="0" i="0">
                <a:solidFill>
                  <a:srgbClr val="595959"/>
                </a:solidFill>
                <a:latin typeface="Arial"/>
              </a:rPr>
              <a:t>₹ Guide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7397496" y="1399032"/>
            <a:ext cx="0" cy="411480"/>
          </a:xfrm>
          <a:prstGeom prst="line">
            <a:avLst/>
          </a:prstGeom>
          <a:ln w="12700">
            <a:solidFill>
              <a:srgbClr val="C0504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7525512" y="149961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1">
                <a:solidFill>
                  <a:srgbClr val="C0504D"/>
                </a:solidFill>
                <a:latin typeface="Arial"/>
              </a:rPr>
              <a:t>plan goes stale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8997696" y="1600200"/>
            <a:ext cx="2779776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411480" y="200253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0070C0"/>
                </a:solidFill>
                <a:latin typeface="Arial"/>
              </a:rPr>
              <a:t>YATRA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252728" y="1920240"/>
            <a:ext cx="10524744" cy="347472"/>
          </a:xfrm>
          <a:prstGeom prst="roundRect">
            <a:avLst>
              <a:gd name="adj" fmla="val 15789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252728" y="2002536"/>
            <a:ext cx="35082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BEFORE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760976" y="2002536"/>
            <a:ext cx="35082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DURING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4760976" y="1975104"/>
            <a:ext cx="0" cy="237744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8269224" y="2002536"/>
            <a:ext cx="35082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AFTER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8269224" y="1975104"/>
            <a:ext cx="0" cy="237744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ectangle 149"/>
          <p:cNvSpPr/>
          <p:nvPr/>
        </p:nvSpPr>
        <p:spPr>
          <a:xfrm>
            <a:off x="411480" y="2395728"/>
            <a:ext cx="146304" cy="12344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30936" y="23728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BENEFITS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11480" y="2633472"/>
            <a:ext cx="3678936" cy="1353312"/>
          </a:xfrm>
          <a:prstGeom prst="roundRect">
            <a:avLst>
              <a:gd name="adj" fmla="val 4054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57784" y="2752344"/>
            <a:ext cx="3386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For the traveller  (social)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57784" y="3017520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70C0"/>
                </a:solidFill>
                <a:latin typeface="Arial"/>
              </a:rPr>
              <a:t>•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85800" y="3017520"/>
            <a:ext cx="3258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Grounded narration on demand, with its source named — instead of a per-monument guide fee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57784" y="3314700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70C0"/>
                </a:solidFill>
                <a:latin typeface="Arial"/>
              </a:rPr>
              <a:t>•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85800" y="3314700"/>
            <a:ext cx="3258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Phrase help in 5 Indian languages with transliteration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57784" y="3497580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70C0"/>
                </a:solidFill>
                <a:latin typeface="Arial"/>
              </a:rPr>
              <a:t>•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85800" y="3497580"/>
            <a:ext cx="3258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Arrival awareness, and a manual “I'm here” when GPS won't cooperate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57784" y="3794760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70C0"/>
                </a:solidFill>
                <a:latin typeface="Arial"/>
              </a:rPr>
              <a:t>•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85800" y="3794760"/>
            <a:ext cx="3258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One conversation instead of five open tabs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255008" y="2633472"/>
            <a:ext cx="3678936" cy="1353312"/>
          </a:xfrm>
          <a:prstGeom prst="roundRect">
            <a:avLst>
              <a:gd name="adj" fmla="val 4054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401312" y="2752344"/>
            <a:ext cx="3386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For destinations  (economic)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401312" y="3017520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70C0"/>
                </a:solidFill>
                <a:latin typeface="Arial"/>
              </a:rPr>
              <a:t>•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529328" y="3017520"/>
            <a:ext cx="3258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Places are matched to one traveller's stated interests from a curated catalogue — not ranked by what is trending this week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401312" y="3429000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70C0"/>
                </a:solidFill>
                <a:latin typeface="Arial"/>
              </a:rPr>
              <a:t>•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529328" y="3429000"/>
            <a:ext cx="3258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The same pipeline that surfaces the Taj can surface Hampi or Ajanta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401312" y="3726180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70C0"/>
                </a:solidFill>
                <a:latin typeface="Arial"/>
              </a:rPr>
              <a:t>•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29328" y="3726180"/>
            <a:ext cx="3258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A mechanism for wider discovery — not a promise to rescue heritage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8098536" y="2633472"/>
            <a:ext cx="3678936" cy="1353312"/>
          </a:xfrm>
          <a:prstGeom prst="roundRect">
            <a:avLst>
              <a:gd name="adj" fmla="val 4054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244840" y="2752344"/>
            <a:ext cx="3386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For the product  (sustained use)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244840" y="3017520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70C0"/>
                </a:solidFill>
                <a:latin typeface="Arial"/>
              </a:rPr>
              <a:t>•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372856" y="3017520"/>
            <a:ext cx="3258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A companion has a reason to be opened during the trip, not only before it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244840" y="3314700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70C0"/>
                </a:solidFill>
                <a:latin typeface="Arial"/>
              </a:rPr>
              <a:t>•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372856" y="3314700"/>
            <a:ext cx="3258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Every accepted, skipped or corrected suggestion is captured as a signal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244840" y="3611880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70C0"/>
                </a:solidFill>
                <a:latin typeface="Arial"/>
              </a:rPr>
              <a:t>•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372856" y="3611880"/>
            <a:ext cx="3258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The next trip starts less cold than the last one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11480" y="4078224"/>
            <a:ext cx="146304" cy="12344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30936" y="4055363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ONE TRAVELLER, END TO END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834639" y="4064508"/>
            <a:ext cx="89428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Meera · 26 · solo · Delhi + Agra · Mughal architecture · no Hindi · ~₹15,000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411480" y="4315968"/>
            <a:ext cx="1545336" cy="7863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411480" y="4315968"/>
            <a:ext cx="1545336" cy="3200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02920" y="4416552"/>
            <a:ext cx="1362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1" i="0">
                <a:solidFill>
                  <a:srgbClr val="1F497D"/>
                </a:solidFill>
                <a:latin typeface="Arial"/>
              </a:rPr>
              <a:t>Signs in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02920" y="4645152"/>
            <a:ext cx="13624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Five onboarding screens become a profile that persists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2048256" y="4315968"/>
            <a:ext cx="1545336" cy="7863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2048256" y="4315968"/>
            <a:ext cx="1545336" cy="32004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139696" y="4416552"/>
            <a:ext cx="1362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1" i="0">
                <a:solidFill>
                  <a:srgbClr val="1F497D"/>
                </a:solidFill>
                <a:latin typeface="Arial"/>
              </a:rPr>
              <a:t>Pastes her ideas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139696" y="4645152"/>
            <a:ext cx="13624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“The Taj at sunrise” matched to a real place row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3685032" y="4315968"/>
            <a:ext cx="1545336" cy="7863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685032" y="4315968"/>
            <a:ext cx="1545336" cy="32004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776472" y="4416552"/>
            <a:ext cx="1362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1" i="0">
                <a:solidFill>
                  <a:srgbClr val="1F497D"/>
                </a:solidFill>
                <a:latin typeface="Arial"/>
              </a:rPr>
              <a:t>Asks for a plan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776472" y="4645152"/>
            <a:ext cx="13624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Model composes; budget and timing checked deterministically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5321808" y="4315968"/>
            <a:ext cx="1545336" cy="7863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321808" y="4315968"/>
            <a:ext cx="1545336" cy="32004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5413248" y="4416552"/>
            <a:ext cx="1362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1" i="0">
                <a:solidFill>
                  <a:srgbClr val="1F497D"/>
                </a:solidFill>
                <a:latin typeface="Arial"/>
              </a:rPr>
              <a:t>“Make it relaxed”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413248" y="4645152"/>
            <a:ext cx="13624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Two stops rescheduled, the rest left untouched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6958584" y="4315968"/>
            <a:ext cx="1545336" cy="7863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6958584" y="4315968"/>
            <a:ext cx="1545336" cy="32004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7050024" y="4416552"/>
            <a:ext cx="1362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1" i="0">
                <a:solidFill>
                  <a:srgbClr val="1F497D"/>
                </a:solidFill>
                <a:latin typeface="Arial"/>
              </a:rPr>
              <a:t>Lands in Delhi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050024" y="4645152"/>
            <a:ext cx="13624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Per-trip consent, arrival — or a manual “I'm here”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8595360" y="4315968"/>
            <a:ext cx="1545336" cy="7863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8595360" y="4315968"/>
            <a:ext cx="1545336" cy="32004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8686800" y="4416552"/>
            <a:ext cx="1362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1" i="0">
                <a:solidFill>
                  <a:srgbClr val="1F497D"/>
                </a:solidFill>
                <a:latin typeface="Arial"/>
              </a:rPr>
              <a:t>Stands at the Taj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686800" y="4645152"/>
            <a:ext cx="13624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Grounded narration, a photo question, a Hindi phrase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0232136" y="4315968"/>
            <a:ext cx="1545336" cy="7863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0232136" y="4315968"/>
            <a:ext cx="1545336" cy="32004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10323576" y="4416552"/>
            <a:ext cx="1362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1" i="0">
                <a:solidFill>
                  <a:srgbClr val="1F497D"/>
                </a:solidFill>
                <a:latin typeface="Arial"/>
              </a:rPr>
              <a:t>Comes home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323576" y="4645152"/>
            <a:ext cx="13624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Memories kept, feedback recorded, next trip warmer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411480" y="5212080"/>
            <a:ext cx="146304" cy="12344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630936" y="518922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HOW WE WOULD MEASURE IT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677363" y="5198364"/>
            <a:ext cx="91001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PRD §37 — metrics, not adjectives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411480" y="5449824"/>
            <a:ext cx="1810512" cy="384048"/>
          </a:xfrm>
          <a:prstGeom prst="roundRect">
            <a:avLst>
              <a:gd name="adj" fmla="val 14285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1F497D"/>
                </a:solidFill>
                <a:latin typeface="Arial"/>
              </a:rPr>
              <a:t>Itinerary generation success rate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2322576" y="5449824"/>
            <a:ext cx="1810512" cy="384048"/>
          </a:xfrm>
          <a:prstGeom prst="roundRect">
            <a:avLst>
              <a:gd name="adj" fmla="val 14285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1F497D"/>
                </a:solidFill>
                <a:latin typeface="Arial"/>
              </a:rPr>
              <a:t>Recommendation acceptance rate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4233672" y="5449824"/>
            <a:ext cx="1810512" cy="384048"/>
          </a:xfrm>
          <a:prstGeom prst="roundRect">
            <a:avLst>
              <a:gd name="adj" fmla="val 14285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1F497D"/>
                </a:solidFill>
                <a:latin typeface="Arial"/>
              </a:rPr>
              <a:t>Itinerary modification rate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6144768" y="5449824"/>
            <a:ext cx="1810512" cy="384048"/>
          </a:xfrm>
          <a:prstGeom prst="roundRect">
            <a:avLst>
              <a:gd name="adj" fmla="val 14285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1F497D"/>
                </a:solidFill>
                <a:latin typeface="Arial"/>
              </a:rPr>
              <a:t>Engagement across trip lifecycle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8055864" y="5449824"/>
            <a:ext cx="1810512" cy="384048"/>
          </a:xfrm>
          <a:prstGeom prst="roundRect">
            <a:avLst>
              <a:gd name="adj" fmla="val 14285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1F497D"/>
                </a:solidFill>
                <a:latin typeface="Arial"/>
              </a:rPr>
              <a:t>Narration engagement rate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9966960" y="5449824"/>
            <a:ext cx="1810512" cy="384048"/>
          </a:xfrm>
          <a:prstGeom prst="roundRect">
            <a:avLst>
              <a:gd name="adj" fmla="val 14285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1F497D"/>
                </a:solidFill>
                <a:latin typeface="Arial"/>
              </a:rPr>
              <a:t>Hallucination-flag rate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11480" y="5907024"/>
            <a:ext cx="11365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 i="1">
                <a:solidFill>
                  <a:srgbClr val="595959"/>
                </a:solidFill>
                <a:latin typeface="Arial"/>
              </a:rPr>
              <a:t>These are mechanisms we built and metrics we will measure — not outcomes we are claiming.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41" name="Google Shape;141;p6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Retrieval Rebels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sih.gov.in/img1/SIH-Logo.png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Rectangle 142"/>
          <p:cNvSpPr/>
          <p:nvPr/>
        </p:nvSpPr>
        <p:spPr>
          <a:xfrm>
            <a:off x="411480" y="1207008"/>
            <a:ext cx="146304" cy="12344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30936" y="118414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WHAT THE RESEARCH SAYS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598724" y="1193292"/>
            <a:ext cx="91787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each finding traces to a section of our Master PRD &amp; SDLC document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11480" y="1444752"/>
            <a:ext cx="2731770" cy="1517904"/>
          </a:xfrm>
          <a:prstGeom prst="roundRect">
            <a:avLst>
              <a:gd name="adj" fmla="val 3614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7784" y="1591056"/>
            <a:ext cx="310896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57784" y="1700784"/>
            <a:ext cx="243916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Planning is fragmented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57784" y="2176272"/>
            <a:ext cx="243916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A search engine, a map, an OTA, review sites and personal notes — no single tool holds the full picture.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57784" y="2743200"/>
            <a:ext cx="243916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 i="0">
                <a:solidFill>
                  <a:srgbClr val="0070C0"/>
                </a:solidFill>
                <a:latin typeface="Arial"/>
              </a:rPr>
              <a:t>PRD §3.3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3289554" y="1444752"/>
            <a:ext cx="2731770" cy="1517904"/>
          </a:xfrm>
          <a:prstGeom prst="roundRect">
            <a:avLst>
              <a:gd name="adj" fmla="val 3614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435858" y="1591056"/>
            <a:ext cx="310896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435858" y="1700784"/>
            <a:ext cx="243916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On-site context is a plaque or a fee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435858" y="2176272"/>
            <a:ext cx="243916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Historical understanding is either two lines on a board or a paid guide. One guided visit to a major monument runs roughly ₹1,000.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435858" y="2743200"/>
            <a:ext cx="243916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 i="0">
                <a:solidFill>
                  <a:srgbClr val="0070C0"/>
                </a:solidFill>
                <a:latin typeface="Arial"/>
              </a:rPr>
              <a:t>PRD §4.3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167628" y="1444752"/>
            <a:ext cx="2731770" cy="1517904"/>
          </a:xfrm>
          <a:prstGeom prst="roundRect">
            <a:avLst>
              <a:gd name="adj" fmla="val 3614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13932" y="1591056"/>
            <a:ext cx="310896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13932" y="1700784"/>
            <a:ext cx="243916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The language barrier is domestic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313932" y="2176272"/>
            <a:ext cx="243916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In India a traveller doesn't need to leave the country to lose the language — only the state. Translation products are built for cross-border travel.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313932" y="2743200"/>
            <a:ext cx="243916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 i="0">
                <a:solidFill>
                  <a:srgbClr val="0070C0"/>
                </a:solidFill>
                <a:latin typeface="Arial"/>
              </a:rPr>
              <a:t>PRD §3.2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9045702" y="1444752"/>
            <a:ext cx="2731770" cy="1517904"/>
          </a:xfrm>
          <a:prstGeom prst="roundRect">
            <a:avLst>
              <a:gd name="adj" fmla="val 3614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9192006" y="1591056"/>
            <a:ext cx="310896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192006" y="1700784"/>
            <a:ext cx="243916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The app goes quiet on arrival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192006" y="2176272"/>
            <a:ext cx="243916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Usage spikes during planning, then the tool goes unopened for the part of the trip that actually matters.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192006" y="2743200"/>
            <a:ext cx="243916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 i="0">
                <a:solidFill>
                  <a:srgbClr val="0070C0"/>
                </a:solidFill>
                <a:latin typeface="Arial"/>
              </a:rPr>
              <a:t>PRD §4.6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11480" y="3054096"/>
            <a:ext cx="146304" cy="12344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30936" y="303123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WHO WE DESIGNED FOR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362809" y="3040379"/>
            <a:ext cx="941466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Five planning patterns — not five demographics.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411480" y="3291839"/>
            <a:ext cx="2185416" cy="621792"/>
          </a:xfrm>
          <a:prstGeom prst="roundRect">
            <a:avLst>
              <a:gd name="adj" fmla="val 8823"/>
            </a:avLst>
          </a:prstGeom>
          <a:solidFill>
            <a:srgbClr val="E8F1F9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21208" y="3374135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Meera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21208" y="3584447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595959"/>
                </a:solidFill>
                <a:latin typeface="Arial"/>
              </a:rPr>
              <a:t>Solo culture-seeker Delhi + Agra, doesn't speak Hindi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2706624" y="3291839"/>
            <a:ext cx="2185416" cy="621792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2816352" y="3374135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1F497D"/>
                </a:solidFill>
                <a:latin typeface="Arial"/>
              </a:rPr>
              <a:t>The Weekend Squad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816352" y="3584447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595959"/>
                </a:solidFill>
                <a:latin typeface="Arial"/>
              </a:rPr>
              <a:t>4–5 friends, short notice, shared budget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5001768" y="3291839"/>
            <a:ext cx="2185416" cy="621792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111496" y="3374135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1F497D"/>
                </a:solidFill>
                <a:latin typeface="Arial"/>
              </a:rPr>
              <a:t>The Family Traveller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111496" y="3584447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595959"/>
                </a:solidFill>
                <a:latin typeface="Arial"/>
              </a:rPr>
              <a:t>Comfortable pace, low-surprise logistics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7296912" y="3291839"/>
            <a:ext cx="2185416" cy="621792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406640" y="3374135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1F497D"/>
                </a:solidFill>
                <a:latin typeface="Arial"/>
              </a:rPr>
              <a:t>The Heritage Enthusiast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406640" y="3584447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595959"/>
                </a:solidFill>
                <a:latin typeface="Arial"/>
              </a:rPr>
              <a:t>Goes deeper than a plaque, asks specific questions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9592056" y="3291839"/>
            <a:ext cx="2185416" cy="621792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701784" y="3374135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1F497D"/>
                </a:solidFill>
                <a:latin typeface="Arial"/>
              </a:rPr>
              <a:t>Arjun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9701784" y="3584447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595959"/>
                </a:solidFill>
                <a:latin typeface="Arial"/>
              </a:rPr>
              <a:t>Everyday local plans, not only multi-day trips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11480" y="4059936"/>
            <a:ext cx="146304" cy="12344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30936" y="403707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REFERENCES AND SOURCE MATERIAL</a:t>
            </a:r>
          </a:p>
        </p:txBody>
      </p:sp>
      <p:sp>
        <p:nvSpPr>
          <p:cNvPr id="186" name="Oval 185"/>
          <p:cNvSpPr/>
          <p:nvPr/>
        </p:nvSpPr>
        <p:spPr>
          <a:xfrm>
            <a:off x="411480" y="4366260"/>
            <a:ext cx="91440" cy="914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76072" y="4288536"/>
            <a:ext cx="54086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Master PRD &amp; SDLC — AI Personalized Tourist Guide (TC-SO1)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76072" y="4434840"/>
            <a:ext cx="54086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74 pages · §3 Business Context, §4 Problem Statement, §9 Personas, §29 MVP, §37 KPIs, §44 Innovation</a:t>
            </a:r>
          </a:p>
        </p:txBody>
      </p:sp>
      <p:sp>
        <p:nvSpPr>
          <p:cNvPr id="189" name="Oval 188"/>
          <p:cNvSpPr/>
          <p:nvPr/>
        </p:nvSpPr>
        <p:spPr>
          <a:xfrm>
            <a:off x="6149340" y="4366260"/>
            <a:ext cx="91440" cy="914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313932" y="4288536"/>
            <a:ext cx="54086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UNESCO World Heritage Centre — India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313932" y="4434840"/>
            <a:ext cx="54086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whc.unesco.org/en/statesparties/in — heritage site records used to source narration content</a:t>
            </a:r>
          </a:p>
        </p:txBody>
      </p:sp>
      <p:sp>
        <p:nvSpPr>
          <p:cNvPr id="192" name="Oval 191"/>
          <p:cNvSpPr/>
          <p:nvPr/>
        </p:nvSpPr>
        <p:spPr>
          <a:xfrm>
            <a:off x="411480" y="4896612"/>
            <a:ext cx="91440" cy="914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576072" y="4818888"/>
            <a:ext cx="54086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Archaeological Survey of India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76072" y="4965192"/>
            <a:ext cx="54086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asi.nic.in — monument records and site citations carried on every narration section</a:t>
            </a:r>
          </a:p>
        </p:txBody>
      </p:sp>
      <p:sp>
        <p:nvSpPr>
          <p:cNvPr id="195" name="Oval 194"/>
          <p:cNvSpPr/>
          <p:nvPr/>
        </p:nvSpPr>
        <p:spPr>
          <a:xfrm>
            <a:off x="6149340" y="4896612"/>
            <a:ext cx="91440" cy="914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313932" y="4818888"/>
            <a:ext cx="54086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Ministry of Tourism, Government of India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313932" y="4965192"/>
            <a:ext cx="54086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tourism.gov.in — India Tourism Statistics, domestic travel context</a:t>
            </a:r>
          </a:p>
        </p:txBody>
      </p:sp>
      <p:sp>
        <p:nvSpPr>
          <p:cNvPr id="198" name="Oval 197"/>
          <p:cNvSpPr/>
          <p:nvPr/>
        </p:nvSpPr>
        <p:spPr>
          <a:xfrm>
            <a:off x="411480" y="5426964"/>
            <a:ext cx="91440" cy="914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576072" y="5349240"/>
            <a:ext cx="54086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Census of India — language tables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76072" y="5495544"/>
            <a:ext cx="54086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censusindia.gov.in — evidence for the domestic, inter-state language barrier</a:t>
            </a:r>
          </a:p>
        </p:txBody>
      </p:sp>
      <p:sp>
        <p:nvSpPr>
          <p:cNvPr id="201" name="Oval 200"/>
          <p:cNvSpPr/>
          <p:nvPr/>
        </p:nvSpPr>
        <p:spPr>
          <a:xfrm>
            <a:off x="6149340" y="5426964"/>
            <a:ext cx="91440" cy="914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313932" y="5349240"/>
            <a:ext cx="54086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Google Gemini API · Open-Meteo (WMO codes) · Geoapify · Supabase · pgvector · PostGIS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313932" y="5495544"/>
            <a:ext cx="54086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Arial"/>
              </a:rPr>
              <a:t>technical documentation for every external service integrated in the working prototype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11480" y="5961888"/>
            <a:ext cx="11365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 i="1">
                <a:solidFill>
                  <a:srgbClr val="595959"/>
                </a:solidFill>
                <a:latin typeface="Arial"/>
              </a:rPr>
              <a:t>We assert no market-size figure. The PRD deliberately leaves it to be confirmed rather than inventing precision — so does this deck.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/>
          </a:p>
        </p:txBody>
      </p:sp>
      <p:sp>
        <p:nvSpPr>
          <p:cNvPr id="103" name="Google Shape;103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3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05" name="Google Shape;105;p3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Retrieval Rebels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sih.gov.in/img1/SIH-Logo.png" id="106" name="Google Shape;10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Rounded Rectangle 106"/>
          <p:cNvSpPr/>
          <p:nvPr/>
        </p:nvSpPr>
        <p:spPr>
          <a:xfrm>
            <a:off x="411480" y="1207008"/>
            <a:ext cx="11365992" cy="420624"/>
          </a:xfrm>
          <a:prstGeom prst="roundRect">
            <a:avLst>
              <a:gd name="adj" fmla="val 13043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94360" y="1261872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F497D"/>
                </a:solidFill>
                <a:latin typeface="Arial"/>
              </a:rPr>
              <a:t>ChatGPT can plan a trip.  YATRA travels it with you.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94360" y="1463040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An AI travel companion for the whole journey — not an itinerary generator that stops at the plan.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11480" y="1773936"/>
            <a:ext cx="146304" cy="12344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0936" y="175107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WHAT YATRA COMBINES INTO ONE COMPANION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11480" y="2011680"/>
            <a:ext cx="1938528" cy="27432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Traveller profile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441448" y="2011680"/>
            <a:ext cx="1938528" cy="27432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Travel DNA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11480" y="2354580"/>
            <a:ext cx="1938528" cy="27432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Stated preferences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441448" y="2354580"/>
            <a:ext cx="1938528" cy="27432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Behavioural signals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11480" y="2697480"/>
            <a:ext cx="1938528" cy="27432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Trip state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441448" y="2697480"/>
            <a:ext cx="1938528" cy="27432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Location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11480" y="3040380"/>
            <a:ext cx="1938528" cy="27432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POI &amp; heritage data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441448" y="3040380"/>
            <a:ext cx="1938528" cy="27432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Live weather</a:t>
            </a:r>
          </a:p>
        </p:txBody>
      </p:sp>
      <p:sp>
        <p:nvSpPr>
          <p:cNvPr id="120" name="Right Arrow 119"/>
          <p:cNvSpPr/>
          <p:nvPr/>
        </p:nvSpPr>
        <p:spPr>
          <a:xfrm>
            <a:off x="4443984" y="2599182"/>
            <a:ext cx="475488" cy="128016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5074920" y="220599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YATRA</a:t>
            </a: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companion core</a:t>
            </a:r>
          </a:p>
        </p:txBody>
      </p:sp>
      <p:sp>
        <p:nvSpPr>
          <p:cNvPr id="122" name="Right Arrow 121"/>
          <p:cNvSpPr/>
          <p:nvPr/>
        </p:nvSpPr>
        <p:spPr>
          <a:xfrm>
            <a:off x="7607808" y="2599182"/>
            <a:ext cx="502920" cy="128016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8156448" y="220599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00" b="1" i="0">
                <a:solidFill>
                  <a:srgbClr val="1F497D"/>
                </a:solidFill>
                <a:latin typeface="Arial"/>
              </a:rPr>
              <a:t>A personalized journey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156448" y="3175254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planned, guided, translated, remembered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11480" y="3474720"/>
            <a:ext cx="146304" cy="12344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0936" y="345186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THE GAP WE CLOSE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11480" y="3712463"/>
            <a:ext cx="3678936" cy="3657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000" b="1" i="0">
                <a:solidFill>
                  <a:srgbClr val="595959"/>
                </a:solidFill>
                <a:latin typeface="Arial"/>
              </a:rPr>
              <a:t>BEFORE the trip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255008" y="3712463"/>
            <a:ext cx="3678936" cy="365760"/>
          </a:xfrm>
          <a:prstGeom prst="roundRect">
            <a:avLst>
              <a:gd name="adj" fmla="val 1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DURING the trip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098536" y="3712463"/>
            <a:ext cx="3678936" cy="365760"/>
          </a:xfrm>
          <a:prstGeom prst="roundRect">
            <a:avLst>
              <a:gd name="adj" fmla="val 1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AFTER the trip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11480" y="4142232"/>
            <a:ext cx="3678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1">
                <a:solidFill>
                  <a:srgbClr val="C0504D"/>
                </a:solidFill>
                <a:latin typeface="Arial"/>
              </a:rPr>
              <a:t>Where almost every travel tool stops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255008" y="4142232"/>
            <a:ext cx="3678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Arrival, narration, translation, adaptation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098536" y="4142232"/>
            <a:ext cx="3678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Memories, feedback, a warmer next trip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11480" y="4462272"/>
            <a:ext cx="146304" cy="12344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30936" y="443941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WHY A GENERAL CHATBOT IS NOT THIS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463747" y="4448556"/>
            <a:ext cx="83137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the difference is the product system around the model, not the model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11480" y="4700016"/>
            <a:ext cx="2731770" cy="1481328"/>
          </a:xfrm>
          <a:prstGeom prst="roundRect">
            <a:avLst>
              <a:gd name="adj" fmla="val 3703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57784" y="4846320"/>
            <a:ext cx="310896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57784" y="4956048"/>
            <a:ext cx="243916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1F497D"/>
                </a:solidFill>
                <a:latin typeface="Arial"/>
              </a:rPr>
              <a:t>Invented places are structurally impossible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57784" y="5431536"/>
            <a:ext cx="243916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Candidates are numbered before the prompt is built. An index outside that range is rejected before anything is saved — proven by a live test asserting every scheduled place exists in the database set.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289554" y="4700016"/>
            <a:ext cx="2731770" cy="1481328"/>
          </a:xfrm>
          <a:prstGeom prst="roundRect">
            <a:avLst>
              <a:gd name="adj" fmla="val 3703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435858" y="4846320"/>
            <a:ext cx="310896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435858" y="4956048"/>
            <a:ext cx="243916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1F497D"/>
                </a:solidFill>
                <a:latin typeface="Arial"/>
              </a:rPr>
              <a:t>Confidence is measured, not self-reported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435858" y="5431536"/>
            <a:ext cx="243916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It is derived from retrieval similarity, then shown to the traveller as “Not fully verified — please confirm locally.” We never ask the model whether it is sure.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167628" y="4700016"/>
            <a:ext cx="2731770" cy="1481328"/>
          </a:xfrm>
          <a:prstGeom prst="roundRect">
            <a:avLst>
              <a:gd name="adj" fmla="val 3703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313932" y="4846320"/>
            <a:ext cx="310896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13932" y="4956048"/>
            <a:ext cx="243916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1F497D"/>
                </a:solidFill>
                <a:latin typeface="Arial"/>
              </a:rPr>
              <a:t>The validator overrules the model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313932" y="5431536"/>
            <a:ext cx="243916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An AI-proposed change that creates a new overlap or an impossible travel time is vetoed, and the conflict is explained back to the traveller instead.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045702" y="4700016"/>
            <a:ext cx="2731770" cy="1481328"/>
          </a:xfrm>
          <a:prstGeom prst="roundRect">
            <a:avLst>
              <a:gd name="adj" fmla="val 3703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192006" y="4846320"/>
            <a:ext cx="310896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192006" y="4956048"/>
            <a:ext cx="243916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1F497D"/>
                </a:solidFill>
                <a:latin typeface="Arial"/>
              </a:rPr>
              <a:t>Degradation is a designed feature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192006" y="5431536"/>
            <a:ext cx="243916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Every AI path has a real non-AI path, and the app is told when it is on one. The product still works on the day the model does not.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