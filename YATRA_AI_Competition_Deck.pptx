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plan is the easy half. The half nobody owns is the traveller standing at the gate, in a city they don't know, in a language they don't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finding here has a document section behind it. The numbers we could not source, we left out — including market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claiming a mechanism and naming the metric that would falsify it. No invented impact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items are blocked on an external credential, not on engineering. We would rather you hear that from us than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composes; the database and the validator decide. That inversion is the whole architecture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can call a model. The question is what happens when it is wrong — we answer that four ways, and each one is a mechanism you can read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beat on this band is running code, and the certification run on 6 September is the receipt. The states are marked so you know exactly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AI PERSONALIZED TOURIST GUIDE  ·  TC-SO1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6675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F4F2FF"/>
                </a:solidFill>
                <a:latin typeface="Segoe UI"/>
              </a:rPr>
              <a:t>YATRA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79FC7"/>
                </a:solidFill>
                <a:latin typeface="Segoe UI"/>
              </a:rPr>
              <a:t>The travel companion that doesn't stop at the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92224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A79FC7"/>
                </a:solidFill>
                <a:latin typeface="Segoe UI"/>
              </a:rPr>
              <a:t>ChatGPT can plan a trip.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6675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C084FC"/>
                </a:solidFill>
                <a:latin typeface="Segoe UI"/>
              </a:rPr>
              <a:t>YATRA travels it with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05456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6892"/>
                </a:solidFill>
                <a:latin typeface="Segoe UI"/>
              </a:rPr>
              <a:t>One companion that plans, guides, translates and remembers —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F6892"/>
                </a:solidFill>
                <a:latin typeface="Segoe UI"/>
              </a:rPr>
              <a:t>before, during and after the journey.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822960"/>
            <a:ext cx="2020824" cy="841248"/>
          </a:xfrm>
          <a:prstGeom prst="roundRect">
            <a:avLst>
              <a:gd name="adj" fmla="val 10869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005840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84FC"/>
                </a:solidFill>
                <a:latin typeface="Segoe UI"/>
              </a:rPr>
              <a:t>Working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1316736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not a mockup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5208" y="822960"/>
            <a:ext cx="2020824" cy="841248"/>
          </a:xfrm>
          <a:prstGeom prst="roundRect">
            <a:avLst>
              <a:gd name="adj" fmla="val 10869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66376" y="1005840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84FC"/>
                </a:solidFill>
                <a:latin typeface="Segoe UI"/>
              </a:rPr>
              <a:t>73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6376" y="1316736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38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65376"/>
            <a:ext cx="2020824" cy="841248"/>
          </a:xfrm>
          <a:prstGeom prst="roundRect">
            <a:avLst>
              <a:gd name="adj" fmla="val 10869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2048256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84FC"/>
                </a:solidFill>
                <a:latin typeface="Segoe UI"/>
              </a:rPr>
              <a:t>560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235915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automated, green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865376"/>
            <a:ext cx="2020824" cy="841248"/>
          </a:xfrm>
          <a:prstGeom prst="roundRect">
            <a:avLst>
              <a:gd name="adj" fmla="val 10869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66376" y="2048256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84FC"/>
                </a:solidFill>
                <a:latin typeface="Segoe UI"/>
              </a:rPr>
              <a:t>Live AI certified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6376" y="235915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06 Sep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17520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Traveller profile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68880" y="3136391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3296412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Travel DNA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3415284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3575303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Stated preferences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" y="3694176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3854196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Behavioural signals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68880" y="3973068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4133087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Trip state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68880" y="4251959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2920" y="4411979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Location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68880" y="4530851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4690872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POI &amp; heritage data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68880" y="4809744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2920" y="4969764"/>
            <a:ext cx="1965960" cy="237744"/>
          </a:xfrm>
          <a:prstGeom prst="roundRect">
            <a:avLst>
              <a:gd name="adj" fmla="val 23076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Live weather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68880" y="5088636"/>
            <a:ext cx="32004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88920" y="3136391"/>
            <a:ext cx="0" cy="1952245"/>
          </a:xfrm>
          <a:prstGeom prst="line">
            <a:avLst/>
          </a:prstGeom>
          <a:ln w="15875">
            <a:solidFill>
              <a:srgbClr val="7C5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88920" y="4112513"/>
            <a:ext cx="2057400" cy="0"/>
          </a:xfrm>
          <a:prstGeom prst="line">
            <a:avLst/>
          </a:prstGeom>
          <a:ln w="15875">
            <a:solidFill>
              <a:srgbClr val="7C5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16936" y="3893057"/>
            <a:ext cx="1801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1">
                <a:solidFill>
                  <a:srgbClr val="6F6892"/>
                </a:solidFill>
                <a:latin typeface="Segoe UI"/>
              </a:rPr>
              <a:t>assembled per request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0" y="3563873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633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YATRA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companion core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296912" y="4039361"/>
            <a:ext cx="1170432" cy="146304"/>
          </a:xfrm>
          <a:prstGeom prst="rightArrow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95360" y="3646169"/>
            <a:ext cx="2670048" cy="932688"/>
          </a:xfrm>
          <a:prstGeom prst="roundRect">
            <a:avLst>
              <a:gd name="adj" fmla="val 17647"/>
            </a:avLst>
          </a:prstGeom>
          <a:noFill/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C084FC"/>
                </a:solidFill>
                <a:latin typeface="Segoe UI"/>
              </a:rPr>
              <a:t>A personalized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C084FC"/>
                </a:solidFill>
                <a:latin typeface="Segoe UI"/>
              </a:rPr>
              <a:t>journey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614416"/>
            <a:ext cx="3611880" cy="402336"/>
          </a:xfrm>
          <a:prstGeom prst="roundRect">
            <a:avLst>
              <a:gd name="adj" fmla="val 18181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79FC7"/>
                </a:solidFill>
                <a:latin typeface="Segoe UI"/>
              </a:rPr>
              <a:t>BEFORE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146804" y="5774436"/>
            <a:ext cx="109728" cy="82296"/>
          </a:xfrm>
          <a:prstGeom prst="right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288536" y="5614416"/>
            <a:ext cx="3611880" cy="402336"/>
          </a:xfrm>
          <a:prstGeom prst="roundRect">
            <a:avLst>
              <a:gd name="adj" fmla="val 18181"/>
            </a:avLst>
          </a:prstGeom>
          <a:solidFill>
            <a:srgbClr val="221E3F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F2FF"/>
                </a:solidFill>
                <a:latin typeface="Segoe UI"/>
              </a:rPr>
              <a:t>DURING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932420" y="5774436"/>
            <a:ext cx="109728" cy="82296"/>
          </a:xfrm>
          <a:prstGeom prst="right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74152" y="5614416"/>
            <a:ext cx="3611880" cy="402336"/>
          </a:xfrm>
          <a:prstGeom prst="roundRect">
            <a:avLst>
              <a:gd name="adj" fmla="val 18181"/>
            </a:avLst>
          </a:prstGeom>
          <a:solidFill>
            <a:srgbClr val="221E3F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4F2FF"/>
                </a:solidFill>
                <a:latin typeface="Segoe UI"/>
              </a:rPr>
              <a:t>AFTER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01668" y="5522976"/>
            <a:ext cx="0" cy="694944"/>
          </a:xfrm>
          <a:prstGeom prst="line">
            <a:avLst/>
          </a:prstGeom>
          <a:ln w="12700">
            <a:solidFill>
              <a:srgbClr val="F5B9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616305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F5B94D"/>
                </a:solidFill>
                <a:latin typeface="Segoe UI"/>
              </a:rPr>
              <a:t>where most travel tools stop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F2FF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566928" cy="411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A79FC7"/>
                </a:solidFill>
                <a:latin typeface="Segoe UI"/>
              </a:rPr>
              <a:t>The idea came from documented problems, not a hunch.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806440" cy="969264"/>
          </a:xfrm>
          <a:prstGeom prst="roundRect">
            <a:avLst>
              <a:gd name="adj" fmla="val 94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72184"/>
            <a:ext cx="32004" cy="67665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444752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Planning is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691640"/>
            <a:ext cx="5349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A79FC7"/>
                </a:solidFill>
                <a:latin typeface="Segoe UI"/>
              </a:rPr>
              <a:t>A search engine, a map, an OTA, review sites and personal notes — no single tool holds the full picture.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5740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PRD §3.3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5806440" cy="969264"/>
          </a:xfrm>
          <a:prstGeom prst="roundRect">
            <a:avLst>
              <a:gd name="adj" fmla="val 94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69464"/>
            <a:ext cx="32004" cy="67665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542032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On-site context is a plaque or a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788920"/>
            <a:ext cx="5349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A79FC7"/>
                </a:solidFill>
                <a:latin typeface="Segoe UI"/>
              </a:rPr>
              <a:t>Historical understanding is either two lines on a board or a paid guide. One guided visit to a major monument runs roughly ₹1,000.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15468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PRD §4.3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5806440" cy="969264"/>
          </a:xfrm>
          <a:prstGeom prst="roundRect">
            <a:avLst>
              <a:gd name="adj" fmla="val 94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66744"/>
            <a:ext cx="32004" cy="67665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639312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The language barrier is domestic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3886200"/>
            <a:ext cx="5349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A79FC7"/>
                </a:solidFill>
                <a:latin typeface="Segoe UI"/>
              </a:rPr>
              <a:t>In India a traveller doesn't need to leave the country to lose the language — only the state. Translation products are built for cross-border travel.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425196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PRD §3.2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17720"/>
            <a:ext cx="5806440" cy="969264"/>
          </a:xfrm>
          <a:prstGeom prst="roundRect">
            <a:avLst>
              <a:gd name="adj" fmla="val 94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64024"/>
            <a:ext cx="32004" cy="676656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736592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The app goes quiet on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983480"/>
            <a:ext cx="5349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A79FC7"/>
                </a:solidFill>
                <a:latin typeface="Segoe UI"/>
              </a:rPr>
              <a:t>Usage spikes during planning, then the tool goes unopened for the part of the trip that actually matters.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53492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PRD §4.6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325880"/>
            <a:ext cx="5102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WHAT A TRAVELLER ASSEMBLES TODAY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554480"/>
            <a:ext cx="7589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8" y="1554480"/>
            <a:ext cx="7589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Maps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5" y="1554480"/>
            <a:ext cx="7589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OTA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1554480"/>
            <a:ext cx="7589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Reviews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48672" y="1554480"/>
            <a:ext cx="7589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Notes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0" y="1554480"/>
            <a:ext cx="7589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₹ Guide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9079992" y="1975104"/>
            <a:ext cx="109728" cy="146304"/>
          </a:xfrm>
          <a:prstGeom prst="downArrow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17536" y="2157984"/>
            <a:ext cx="2834640" cy="402336"/>
          </a:xfrm>
          <a:prstGeom prst="roundRect">
            <a:avLst>
              <a:gd name="adj" fmla="val 20454"/>
            </a:avLst>
          </a:prstGeom>
          <a:solidFill>
            <a:srgbClr val="633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One companion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761488"/>
            <a:ext cx="5102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DESIGNED AGAINST FIVE PLANNING PATTERNS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2980944"/>
            <a:ext cx="5102352" cy="438912"/>
          </a:xfrm>
          <a:prstGeom prst="roundRect">
            <a:avLst>
              <a:gd name="adj" fmla="val 16666"/>
            </a:avLst>
          </a:prstGeom>
          <a:solidFill>
            <a:srgbClr val="131128"/>
          </a:solidFill>
          <a:ln w="1587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307238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84FC"/>
                </a:solidFill>
                <a:latin typeface="Segoe UI"/>
              </a:rPr>
              <a:t>Meera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035808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Solo culture-seeker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Delhi + Agra, doesn't speak Hindi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488435"/>
            <a:ext cx="5102352" cy="438912"/>
          </a:xfrm>
          <a:prstGeom prst="roundRect">
            <a:avLst>
              <a:gd name="adj" fmla="val 16666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48272" y="3579875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The Weekend Squad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543299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4–5 friends, short notice,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shared budget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995927"/>
            <a:ext cx="5102352" cy="438912"/>
          </a:xfrm>
          <a:prstGeom prst="roundRect">
            <a:avLst>
              <a:gd name="adj" fmla="val 16666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4087367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The Family Traveller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050791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Comfortable pace,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low-surprise logistics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4503419"/>
            <a:ext cx="5102352" cy="438912"/>
          </a:xfrm>
          <a:prstGeom prst="roundRect">
            <a:avLst>
              <a:gd name="adj" fmla="val 16666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4594859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The Heritage Enthusiast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558283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Goes deeper than a plaque,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asks specific questions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5010911"/>
            <a:ext cx="5102352" cy="438912"/>
          </a:xfrm>
          <a:prstGeom prst="roundRect">
            <a:avLst>
              <a:gd name="adj" fmla="val 16666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5102351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Arjun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065775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Everyday local plans,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not only multi-day trips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536691"/>
            <a:ext cx="5102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1">
                <a:solidFill>
                  <a:srgbClr val="6F6892"/>
                </a:solidFill>
                <a:latin typeface="Segoe UI"/>
              </a:rPr>
              <a:t>Five planning patterns — not five demographics.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815584"/>
            <a:ext cx="11185855" cy="566928"/>
          </a:xfrm>
          <a:prstGeom prst="roundRect">
            <a:avLst>
              <a:gd name="adj" fmla="val 14516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" y="590702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REFERENCES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897880"/>
            <a:ext cx="953993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Master PRD &amp; SDLC (TC-SO1) §3–§5, §9, §29, §37, §44  ·  UNESCO World Heritage Centre — India  ·  Archaeological Survey of India  ·  Ministry of Tourism, Government of India  ·  Census of India — language tables  ·  Google Gemini API documentation  ·  Open-Meteo WMO code reference  ·  Supabase  ·  pgvector  ·  PostGIS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F5B94D"/>
                </a:solidFill>
                <a:latin typeface="Segoe UI"/>
              </a:rPr>
              <a:t>We assert no market-size figure. The PRD deliberately leaves it to be confirmed rather than inventing precision — so does this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F2FF"/>
                </a:solidFill>
                <a:latin typeface="Segoe UI"/>
              </a:rPr>
              <a:t>Impact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566928" cy="411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A79FC7"/>
                </a:solidFill>
                <a:latin typeface="Segoe UI"/>
              </a:rPr>
              <a:t>Mechanisms we built — and the metrics that would falsify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91056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591056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91056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591056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591056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91056"/>
            <a:ext cx="1051560" cy="402336"/>
          </a:xfrm>
          <a:prstGeom prst="roundRect">
            <a:avLst>
              <a:gd name="adj" fmla="val 15909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A79FC7"/>
                </a:solidFill>
                <a:latin typeface="Segoe UI"/>
              </a:rPr>
              <a:t>₹ Guide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1536192"/>
            <a:ext cx="0" cy="512064"/>
          </a:xfrm>
          <a:prstGeom prst="line">
            <a:avLst/>
          </a:prstGeom>
          <a:ln w="12700">
            <a:solidFill>
              <a:srgbClr val="F5B9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35240" y="17007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F5B94D"/>
                </a:solidFill>
                <a:latin typeface="Segoe UI"/>
              </a:rPr>
              <a:t>plan goes stale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1792224"/>
            <a:ext cx="2819095" cy="0"/>
          </a:xfrm>
          <a:prstGeom prst="line">
            <a:avLst/>
          </a:prstGeom>
          <a:ln w="9525">
            <a:solidFill>
              <a:srgbClr val="6F68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2128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WITH YATRA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14016"/>
            <a:ext cx="11185855" cy="420624"/>
          </a:xfrm>
          <a:prstGeom prst="roundRect">
            <a:avLst>
              <a:gd name="adj" fmla="val 19565"/>
            </a:avLst>
          </a:prstGeom>
          <a:solidFill>
            <a:srgbClr val="221E3F"/>
          </a:solidFill>
          <a:ln w="952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32888"/>
            <a:ext cx="37286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BEFORE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31538" y="2487168"/>
            <a:ext cx="0" cy="274320"/>
          </a:xfrm>
          <a:prstGeom prst="line">
            <a:avLst/>
          </a:prstGeom>
          <a:ln w="9525">
            <a:solidFill>
              <a:srgbClr val="7C5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31538" y="2532888"/>
            <a:ext cx="37286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DURING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60156" y="2487168"/>
            <a:ext cx="0" cy="274320"/>
          </a:xfrm>
          <a:prstGeom prst="line">
            <a:avLst/>
          </a:prstGeom>
          <a:ln w="9525">
            <a:solidFill>
              <a:srgbClr val="7C5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60156" y="2532888"/>
            <a:ext cx="37286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AFTER</a:t>
            </a:r>
          </a:p>
        </p:txBody>
      </p:sp>
      <p:sp>
        <p:nvSpPr>
          <p:cNvPr id="23" name="Oval 22"/>
          <p:cNvSpPr/>
          <p:nvPr/>
        </p:nvSpPr>
        <p:spPr>
          <a:xfrm>
            <a:off x="1529151" y="2889504"/>
            <a:ext cx="82296" cy="8229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08376"/>
            <a:ext cx="21347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084FC"/>
                </a:solidFill>
                <a:latin typeface="Segoe UI"/>
              </a:rPr>
              <a:t>plan</a:t>
            </a:r>
          </a:p>
        </p:txBody>
      </p:sp>
      <p:sp>
        <p:nvSpPr>
          <p:cNvPr id="25" name="Oval 24"/>
          <p:cNvSpPr/>
          <p:nvPr/>
        </p:nvSpPr>
        <p:spPr>
          <a:xfrm>
            <a:off x="3791925" y="2889504"/>
            <a:ext cx="82296" cy="8229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5694" y="3008376"/>
            <a:ext cx="21347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084FC"/>
                </a:solidFill>
                <a:latin typeface="Segoe UI"/>
              </a:rPr>
              <a:t>adapt</a:t>
            </a:r>
          </a:p>
        </p:txBody>
      </p:sp>
      <p:sp>
        <p:nvSpPr>
          <p:cNvPr id="27" name="Oval 26"/>
          <p:cNvSpPr/>
          <p:nvPr/>
        </p:nvSpPr>
        <p:spPr>
          <a:xfrm>
            <a:off x="6054699" y="2889504"/>
            <a:ext cx="82296" cy="8229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8468" y="3008376"/>
            <a:ext cx="21347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084FC"/>
                </a:solidFill>
                <a:latin typeface="Segoe UI"/>
              </a:rPr>
              <a:t>narrate</a:t>
            </a:r>
          </a:p>
        </p:txBody>
      </p:sp>
      <p:sp>
        <p:nvSpPr>
          <p:cNvPr id="29" name="Oval 28"/>
          <p:cNvSpPr/>
          <p:nvPr/>
        </p:nvSpPr>
        <p:spPr>
          <a:xfrm>
            <a:off x="8317473" y="2889504"/>
            <a:ext cx="82296" cy="8229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1242" y="3008376"/>
            <a:ext cx="21347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084FC"/>
                </a:solidFill>
                <a:latin typeface="Segoe UI"/>
              </a:rPr>
              <a:t>translate</a:t>
            </a:r>
          </a:p>
        </p:txBody>
      </p:sp>
      <p:sp>
        <p:nvSpPr>
          <p:cNvPr id="31" name="Oval 30"/>
          <p:cNvSpPr/>
          <p:nvPr/>
        </p:nvSpPr>
        <p:spPr>
          <a:xfrm>
            <a:off x="10580248" y="2889504"/>
            <a:ext cx="82296" cy="8229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4016" y="3008376"/>
            <a:ext cx="21347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084FC"/>
                </a:solidFill>
                <a:latin typeface="Segoe UI"/>
              </a:rPr>
              <a:t>remember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291840"/>
            <a:ext cx="3594506" cy="1883664"/>
          </a:xfrm>
          <a:prstGeom prst="roundRect">
            <a:avLst>
              <a:gd name="adj" fmla="val 485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" y="3493008"/>
            <a:ext cx="365760" cy="3200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3602736"/>
            <a:ext cx="319217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For the traveller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3931920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3931920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Grounded narration on demand, with its source named — instead of a per-monument guide fee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4251045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251045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Phrase help in 5 Indian languages with transliteration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" y="4449470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4449470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Arrival awareness, and a manual “I'm here” when GPS won't cooperate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476859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4768596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One conversation instead of five open tabs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8594" y="3291840"/>
            <a:ext cx="3594506" cy="1883664"/>
          </a:xfrm>
          <a:prstGeom prst="roundRect">
            <a:avLst>
              <a:gd name="adj" fmla="val 485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9762" y="3493008"/>
            <a:ext cx="365760" cy="3200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9762" y="3602736"/>
            <a:ext cx="319217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For destinations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9762" y="3931920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6066" y="3931920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Places are matched to one traveller's stated interests from a curated catalogue — not ranked by what is trending this week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9762" y="437174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6066" y="4371746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The same pipeline that surfaces the Taj can surface Hampi or Ajanta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9762" y="4690872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6066" y="4690872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A mechanism for wider discovery — not a promise to rescue heritage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4268" y="3291840"/>
            <a:ext cx="3594506" cy="1883664"/>
          </a:xfrm>
          <a:prstGeom prst="roundRect">
            <a:avLst>
              <a:gd name="adj" fmla="val 485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95436" y="3493008"/>
            <a:ext cx="365760" cy="3200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95436" y="3602736"/>
            <a:ext cx="319217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F2FF"/>
                </a:solidFill>
                <a:latin typeface="Segoe UI"/>
              </a:rPr>
              <a:t>For the product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5436" y="3931920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1740" y="3931920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A companion has a reason to be opened during the trip, not only before 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5436" y="4251045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41740" y="4251045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Every accepted, skipped or corrected suggestion is captured as a signal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95436" y="4570171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1740" y="4570171"/>
            <a:ext cx="304586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The next trip starts less cold than the last 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3218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HOW WE'D KNOW IT WORKED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541264"/>
            <a:ext cx="1765249" cy="512064"/>
          </a:xfrm>
          <a:prstGeom prst="roundRect">
            <a:avLst>
              <a:gd name="adj" fmla="val 14285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Itinerary generation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success rate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87041" y="5541264"/>
            <a:ext cx="1765249" cy="512064"/>
          </a:xfrm>
          <a:prstGeom prst="roundRect">
            <a:avLst>
              <a:gd name="adj" fmla="val 14285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Recommendation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acceptance rate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71162" y="5541264"/>
            <a:ext cx="1765249" cy="512064"/>
          </a:xfrm>
          <a:prstGeom prst="roundRect">
            <a:avLst>
              <a:gd name="adj" fmla="val 14285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Itinerary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modification rate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55283" y="5541264"/>
            <a:ext cx="1765249" cy="512064"/>
          </a:xfrm>
          <a:prstGeom prst="roundRect">
            <a:avLst>
              <a:gd name="adj" fmla="val 14285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Engagement across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trip lifecycle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39404" y="5541264"/>
            <a:ext cx="1765249" cy="512064"/>
          </a:xfrm>
          <a:prstGeom prst="roundRect">
            <a:avLst>
              <a:gd name="adj" fmla="val 14285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Narration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engagement rate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23526" y="5541264"/>
            <a:ext cx="1765249" cy="512064"/>
          </a:xfrm>
          <a:prstGeom prst="roundRect">
            <a:avLst>
              <a:gd name="adj" fmla="val 14285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Hallucination-flag</a:t>
            </a:r>
          </a:p>
          <a:p>
            <a:pPr algn="ctr">
              <a:lnSpc>
                <a:spcPct val="108000"/>
              </a:lnSpc>
            </a:pPr>
            <a:r>
              <a:rPr sz="800" b="0" i="0">
                <a:solidFill>
                  <a:srgbClr val="A79FC7"/>
                </a:solidFill>
                <a:latin typeface="Segoe UI"/>
              </a:rPr>
              <a:t>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21792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F5B94D"/>
                </a:solidFill>
                <a:latin typeface="Segoe UI"/>
              </a:rPr>
              <a:t>These are mechanisms we built and metrics we will measure — not outcomes we are claiming.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F2FF"/>
                </a:solidFill>
                <a:latin typeface="Segoe UI"/>
              </a:rPr>
              <a:t>Feasibility &amp;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566928" cy="411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A79FC7"/>
                </a:solidFill>
                <a:latin typeface="Segoe UI"/>
              </a:rPr>
              <a:t>It is not a proposal. It is running — and we name the gaps ourselves.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03604"/>
            <a:ext cx="96012" cy="9601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4206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Live</a:t>
            </a:r>
          </a:p>
        </p:txBody>
      </p:sp>
      <p:sp>
        <p:nvSpPr>
          <p:cNvPr id="8" name="Oval 7"/>
          <p:cNvSpPr/>
          <p:nvPr/>
        </p:nvSpPr>
        <p:spPr>
          <a:xfrm>
            <a:off x="1207008" y="1403604"/>
            <a:ext cx="96012" cy="96012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2456" y="1371600"/>
            <a:ext cx="10378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Live, limited</a:t>
            </a:r>
          </a:p>
        </p:txBody>
      </p:sp>
      <p:sp>
        <p:nvSpPr>
          <p:cNvPr id="10" name="Oval 9"/>
          <p:cNvSpPr/>
          <p:nvPr/>
        </p:nvSpPr>
        <p:spPr>
          <a:xfrm>
            <a:off x="2528315" y="1403604"/>
            <a:ext cx="96012" cy="9601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3" y="1371600"/>
            <a:ext cx="20665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Built, awaiting a credential</a:t>
            </a:r>
          </a:p>
        </p:txBody>
      </p:sp>
      <p:sp>
        <p:nvSpPr>
          <p:cNvPr id="12" name="Oval 11"/>
          <p:cNvSpPr/>
          <p:nvPr/>
        </p:nvSpPr>
        <p:spPr>
          <a:xfrm>
            <a:off x="4878324" y="1403604"/>
            <a:ext cx="96012" cy="96012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3772" y="1371600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45920"/>
            <a:ext cx="21311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IDENTITY &amp; PROFILE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1865376"/>
            <a:ext cx="213110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" y="200436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95681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Google sign-in · JWKS verified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" y="22786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23113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Onboarding → traveller profile</a:t>
            </a:r>
          </a:p>
        </p:txBody>
      </p:sp>
      <p:sp>
        <p:nvSpPr>
          <p:cNvPr id="20" name="Oval 19"/>
          <p:cNvSpPr/>
          <p:nvPr/>
        </p:nvSpPr>
        <p:spPr>
          <a:xfrm>
            <a:off x="516636" y="255300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50545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Travel DNA</a:t>
            </a:r>
          </a:p>
        </p:txBody>
      </p:sp>
      <p:sp>
        <p:nvSpPr>
          <p:cNvPr id="22" name="Oval 21"/>
          <p:cNvSpPr/>
          <p:nvPr/>
        </p:nvSpPr>
        <p:spPr>
          <a:xfrm>
            <a:off x="516636" y="28273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77977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Row-Level Security, 37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6608" y="1645920"/>
            <a:ext cx="21311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PLANNING &amp; AI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66608" y="1865376"/>
            <a:ext cx="2131101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780324" y="200436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0344" y="195681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AI itinerary generation</a:t>
            </a:r>
          </a:p>
        </p:txBody>
      </p:sp>
      <p:sp>
        <p:nvSpPr>
          <p:cNvPr id="28" name="Oval 27"/>
          <p:cNvSpPr/>
          <p:nvPr/>
        </p:nvSpPr>
        <p:spPr>
          <a:xfrm>
            <a:off x="2780324" y="22786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0344" y="223113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Idea extraction from free text</a:t>
            </a:r>
          </a:p>
        </p:txBody>
      </p:sp>
      <p:sp>
        <p:nvSpPr>
          <p:cNvPr id="30" name="Oval 29"/>
          <p:cNvSpPr/>
          <p:nvPr/>
        </p:nvSpPr>
        <p:spPr>
          <a:xfrm>
            <a:off x="2780324" y="255300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0344" y="250545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Conversational modification</a:t>
            </a:r>
          </a:p>
        </p:txBody>
      </p:sp>
      <p:sp>
        <p:nvSpPr>
          <p:cNvPr id="32" name="Oval 31"/>
          <p:cNvSpPr/>
          <p:nvPr/>
        </p:nvSpPr>
        <p:spPr>
          <a:xfrm>
            <a:off x="2780324" y="28273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40344" y="277977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Business-rule validator</a:t>
            </a:r>
          </a:p>
        </p:txBody>
      </p:sp>
      <p:sp>
        <p:nvSpPr>
          <p:cNvPr id="34" name="Oval 33"/>
          <p:cNvSpPr/>
          <p:nvPr/>
        </p:nvSpPr>
        <p:spPr>
          <a:xfrm>
            <a:off x="2780324" y="310164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0344" y="305409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Budget estimate &amp; expense split</a:t>
            </a:r>
          </a:p>
        </p:txBody>
      </p:sp>
      <p:sp>
        <p:nvSpPr>
          <p:cNvPr id="36" name="Oval 35"/>
          <p:cNvSpPr/>
          <p:nvPr/>
        </p:nvSpPr>
        <p:spPr>
          <a:xfrm>
            <a:off x="2780324" y="337596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40344" y="332841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Group planning &amp; reconciliation</a:t>
            </a:r>
          </a:p>
        </p:txBody>
      </p:sp>
      <p:sp>
        <p:nvSpPr>
          <p:cNvPr id="38" name="Oval 37"/>
          <p:cNvSpPr/>
          <p:nvPr/>
        </p:nvSpPr>
        <p:spPr>
          <a:xfrm>
            <a:off x="2780324" y="36502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0344" y="360273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Quick Plan (local outing)</a:t>
            </a:r>
          </a:p>
        </p:txBody>
      </p:sp>
      <p:sp>
        <p:nvSpPr>
          <p:cNvPr id="40" name="Oval 39"/>
          <p:cNvSpPr/>
          <p:nvPr/>
        </p:nvSpPr>
        <p:spPr>
          <a:xfrm>
            <a:off x="2780324" y="392460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0344" y="387705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Learned ranking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0297" y="1645920"/>
            <a:ext cx="21311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ON-SITE COMPANION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30297" y="1865376"/>
            <a:ext cx="2131100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044013" y="200436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04033" y="195681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Location consent &amp; arrival</a:t>
            </a:r>
          </a:p>
        </p:txBody>
      </p:sp>
      <p:sp>
        <p:nvSpPr>
          <p:cNvPr id="46" name="Oval 45"/>
          <p:cNvSpPr/>
          <p:nvPr/>
        </p:nvSpPr>
        <p:spPr>
          <a:xfrm>
            <a:off x="5044013" y="22786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4033" y="223113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Nearby recommendations</a:t>
            </a:r>
          </a:p>
        </p:txBody>
      </p:sp>
      <p:sp>
        <p:nvSpPr>
          <p:cNvPr id="48" name="Oval 47"/>
          <p:cNvSpPr/>
          <p:nvPr/>
        </p:nvSpPr>
        <p:spPr>
          <a:xfrm>
            <a:off x="5044013" y="255300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04033" y="250545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Live weather</a:t>
            </a:r>
          </a:p>
        </p:txBody>
      </p:sp>
      <p:sp>
        <p:nvSpPr>
          <p:cNvPr id="50" name="Oval 49"/>
          <p:cNvSpPr/>
          <p:nvPr/>
        </p:nvSpPr>
        <p:spPr>
          <a:xfrm>
            <a:off x="5044013" y="282732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04033" y="277977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Maps &amp; POI discovery</a:t>
            </a:r>
          </a:p>
        </p:txBody>
      </p:sp>
      <p:sp>
        <p:nvSpPr>
          <p:cNvPr id="52" name="Oval 51"/>
          <p:cNvSpPr/>
          <p:nvPr/>
        </p:nvSpPr>
        <p:spPr>
          <a:xfrm>
            <a:off x="5044013" y="310164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04033" y="305409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Weather-driven adaptation</a:t>
            </a:r>
          </a:p>
        </p:txBody>
      </p:sp>
      <p:sp>
        <p:nvSpPr>
          <p:cNvPr id="54" name="Oval 53"/>
          <p:cNvSpPr/>
          <p:nvPr/>
        </p:nvSpPr>
        <p:spPr>
          <a:xfrm>
            <a:off x="5044013" y="337596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04033" y="332841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Safety / SOS &amp; location share</a:t>
            </a:r>
          </a:p>
        </p:txBody>
      </p:sp>
      <p:sp>
        <p:nvSpPr>
          <p:cNvPr id="56" name="Oval 55"/>
          <p:cNvSpPr/>
          <p:nvPr/>
        </p:nvSpPr>
        <p:spPr>
          <a:xfrm>
            <a:off x="5044013" y="365028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04033" y="360273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Background tracking</a:t>
            </a:r>
          </a:p>
        </p:txBody>
      </p:sp>
      <p:sp>
        <p:nvSpPr>
          <p:cNvPr id="58" name="Oval 57"/>
          <p:cNvSpPr/>
          <p:nvPr/>
        </p:nvSpPr>
        <p:spPr>
          <a:xfrm>
            <a:off x="5044013" y="392460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04033" y="387705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Proactive companion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93985" y="1645920"/>
            <a:ext cx="21311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HERITAGE &amp; LANGUAGE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293985" y="1865376"/>
            <a:ext cx="2131101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307701" y="200436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67721" y="195681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Grounded narration + citation</a:t>
            </a:r>
          </a:p>
        </p:txBody>
      </p:sp>
      <p:sp>
        <p:nvSpPr>
          <p:cNvPr id="64" name="Oval 63"/>
          <p:cNvSpPr/>
          <p:nvPr/>
        </p:nvSpPr>
        <p:spPr>
          <a:xfrm>
            <a:off x="7307701" y="22786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67721" y="223113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Confidence flagging</a:t>
            </a:r>
          </a:p>
        </p:txBody>
      </p:sp>
      <p:sp>
        <p:nvSpPr>
          <p:cNvPr id="66" name="Oval 65"/>
          <p:cNvSpPr/>
          <p:nvPr/>
        </p:nvSpPr>
        <p:spPr>
          <a:xfrm>
            <a:off x="7307701" y="255300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67721" y="250545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Photo Q&amp;A (multimodal)</a:t>
            </a:r>
          </a:p>
        </p:txBody>
      </p:sp>
      <p:sp>
        <p:nvSpPr>
          <p:cNvPr id="68" name="Oval 67"/>
          <p:cNvSpPr/>
          <p:nvPr/>
        </p:nvSpPr>
        <p:spPr>
          <a:xfrm>
            <a:off x="7307701" y="282732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67721" y="277977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Translation, 5 languages</a:t>
            </a:r>
          </a:p>
        </p:txBody>
      </p:sp>
      <p:sp>
        <p:nvSpPr>
          <p:cNvPr id="70" name="Oval 69"/>
          <p:cNvSpPr/>
          <p:nvPr/>
        </p:nvSpPr>
        <p:spPr>
          <a:xfrm>
            <a:off x="7307701" y="310164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67721" y="305409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Speech translation (batch)</a:t>
            </a:r>
          </a:p>
        </p:txBody>
      </p:sp>
      <p:sp>
        <p:nvSpPr>
          <p:cNvPr id="72" name="Oval 71"/>
          <p:cNvSpPr/>
          <p:nvPr/>
        </p:nvSpPr>
        <p:spPr>
          <a:xfrm>
            <a:off x="7307701" y="337596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67721" y="332841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Curated phrasebook</a:t>
            </a:r>
          </a:p>
        </p:txBody>
      </p:sp>
      <p:sp>
        <p:nvSpPr>
          <p:cNvPr id="74" name="Oval 73"/>
          <p:cNvSpPr/>
          <p:nvPr/>
        </p:nvSpPr>
        <p:spPr>
          <a:xfrm>
            <a:off x="7307701" y="365028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7721" y="360273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Semantic section navigation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57674" y="1645920"/>
            <a:ext cx="21311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TRIPS, MEMORY &amp; SOCIAL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557674" y="1865376"/>
            <a:ext cx="2131101" cy="0"/>
          </a:xfrm>
          <a:prstGeom prst="line">
            <a:avLst/>
          </a:prstGeom>
          <a:ln w="9525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9571390" y="200436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31410" y="195681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Trips, favourites, collections</a:t>
            </a:r>
          </a:p>
        </p:txBody>
      </p:sp>
      <p:sp>
        <p:nvSpPr>
          <p:cNvPr id="80" name="Oval 79"/>
          <p:cNvSpPr/>
          <p:nvPr/>
        </p:nvSpPr>
        <p:spPr>
          <a:xfrm>
            <a:off x="9571390" y="227868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31410" y="223113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Reviews + admin moderation</a:t>
            </a:r>
          </a:p>
        </p:txBody>
      </p:sp>
      <p:sp>
        <p:nvSpPr>
          <p:cNvPr id="82" name="Oval 81"/>
          <p:cNvSpPr/>
          <p:nvPr/>
        </p:nvSpPr>
        <p:spPr>
          <a:xfrm>
            <a:off x="9571390" y="2553004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731410" y="2505456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Memory Box + private storage</a:t>
            </a:r>
          </a:p>
        </p:txBody>
      </p:sp>
      <p:sp>
        <p:nvSpPr>
          <p:cNvPr id="84" name="Oval 83"/>
          <p:cNvSpPr/>
          <p:nvPr/>
        </p:nvSpPr>
        <p:spPr>
          <a:xfrm>
            <a:off x="9571390" y="282732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31410" y="277977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Notifications</a:t>
            </a:r>
          </a:p>
        </p:txBody>
      </p:sp>
      <p:sp>
        <p:nvSpPr>
          <p:cNvPr id="86" name="Oval 85"/>
          <p:cNvSpPr/>
          <p:nvPr/>
        </p:nvSpPr>
        <p:spPr>
          <a:xfrm>
            <a:off x="9571390" y="3101644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31410" y="305409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Offline package</a:t>
            </a:r>
          </a:p>
        </p:txBody>
      </p:sp>
      <p:sp>
        <p:nvSpPr>
          <p:cNvPr id="88" name="Oval 87"/>
          <p:cNvSpPr/>
          <p:nvPr/>
        </p:nvSpPr>
        <p:spPr>
          <a:xfrm>
            <a:off x="9571390" y="337596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31410" y="332841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Booking &amp; payments</a:t>
            </a:r>
          </a:p>
        </p:txBody>
      </p:sp>
      <p:sp>
        <p:nvSpPr>
          <p:cNvPr id="90" name="Oval 89"/>
          <p:cNvSpPr/>
          <p:nvPr/>
        </p:nvSpPr>
        <p:spPr>
          <a:xfrm>
            <a:off x="9571390" y="365028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31410" y="3602735"/>
            <a:ext cx="194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AI trip recap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2920" y="4261104"/>
            <a:ext cx="11185855" cy="694944"/>
          </a:xfrm>
          <a:prstGeom prst="roundRect">
            <a:avLst>
              <a:gd name="adj" fmla="val 11842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4088" y="43342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CONTENT CATALOGUE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4088" y="450799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11 curated heritage sites across 9 cities today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4088" y="4745736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F5B94D"/>
                </a:solidFill>
                <a:latin typeface="Segoe UI"/>
              </a:rPr>
              <a:t>Target for launch: 6–7 destinations, 40–50 points of interest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44805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12 narration sections · 56 phrases · every section carries a source citation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60920" y="4462272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Seed scripts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8631936" y="4562856"/>
            <a:ext cx="128016" cy="91440"/>
          </a:xfrm>
          <a:prstGeom prst="rightArrow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823960" y="4462272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Admin publish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10094976" y="4562856"/>
            <a:ext cx="128016" cy="91440"/>
          </a:xfrm>
          <a:prstGeom prst="rightArrow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287000" y="4462272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Live augmentation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102352"/>
            <a:ext cx="3429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EVIDENCE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2920" y="5303520"/>
            <a:ext cx="1664208" cy="493776"/>
          </a:xfrm>
          <a:prstGeom prst="roundRect">
            <a:avLst>
              <a:gd name="adj" fmla="val 1481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0936" y="5349240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84FC"/>
                </a:solidFill>
                <a:latin typeface="Segoe UI"/>
              </a:rPr>
              <a:t>73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6" y="5568696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versioned API endpoints across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21 routers, one error envelope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267712" y="5303520"/>
            <a:ext cx="1664208" cy="493776"/>
          </a:xfrm>
          <a:prstGeom prst="roundRect">
            <a:avLst>
              <a:gd name="adj" fmla="val 1481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95728" y="5349240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84FC"/>
                </a:solidFill>
                <a:latin typeface="Segoe UI"/>
              </a:rPr>
              <a:t>38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95728" y="5568696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tables · 22 migrations ·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PostGIS + pgvector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02920" y="5852159"/>
            <a:ext cx="1664208" cy="493776"/>
          </a:xfrm>
          <a:prstGeom prst="roundRect">
            <a:avLst>
              <a:gd name="adj" fmla="val 1481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0936" y="5897879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84FC"/>
                </a:solidFill>
                <a:latin typeface="Segoe UI"/>
              </a:rPr>
              <a:t>560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6" y="6117336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automated tests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(187 mobile + 373 backend)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267712" y="5852159"/>
            <a:ext cx="1664208" cy="493776"/>
          </a:xfrm>
          <a:prstGeom prst="roundRect">
            <a:avLst>
              <a:gd name="adj" fmla="val 14814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95728" y="5897879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84FC"/>
                </a:solidFill>
                <a:latin typeface="Segoe UI"/>
              </a:rPr>
              <a:t>367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95728" y="6117336"/>
            <a:ext cx="14081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passed against live Postgres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and a real model key, 06 Sep 2026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6455664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1">
                <a:solidFill>
                  <a:srgbClr val="F5B94D"/>
                </a:solidFill>
                <a:latin typeface="Segoe UI"/>
              </a:rPr>
              <a:t>That live run also exposed four real defects in our own code. We fixed them and kept the record.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14800" y="5102352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RISKS → MITIGATIONS ALREADY IN THE CODE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14800" y="530352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F4F2FF"/>
                </a:solidFill>
                <a:latin typeface="Segoe UI"/>
              </a:rPr>
              <a:t>Model cost or quota runs out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60720" y="530352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Provider abstraction · per-user rate limit · a deterministic non-AI plan built from real database places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114800" y="5605272"/>
            <a:ext cx="4160520" cy="0"/>
          </a:xfrm>
          <a:prstGeom prst="line">
            <a:avLst/>
          </a:prstGeom>
          <a:ln w="6350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114800" y="5650992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F4F2FF"/>
                </a:solidFill>
                <a:latin typeface="Segoe UI"/>
              </a:rPr>
              <a:t>The model invents a place or a fact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60720" y="5650992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Candidates are numbered; an out-of-range index is rejected before it is saved · narration is grounded in curated content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114800" y="5952744"/>
            <a:ext cx="4160520" cy="0"/>
          </a:xfrm>
          <a:prstGeom prst="line">
            <a:avLst/>
          </a:prstGeom>
          <a:ln w="6350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114800" y="5998464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F4F2FF"/>
                </a:solidFill>
                <a:latin typeface="Segoe UI"/>
              </a:rPr>
              <a:t>A third-party service goes down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60720" y="5998464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Every provider client collapses to one typed error · the client is told it is degraded, never shown a fake success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4114800" y="6300216"/>
            <a:ext cx="4160520" cy="0"/>
          </a:xfrm>
          <a:prstGeom prst="line">
            <a:avLst/>
          </a:prstGeom>
          <a:ln w="6350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4114800" y="634593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F4F2FF"/>
                </a:solidFill>
                <a:latin typeface="Segoe UI"/>
              </a:rPr>
              <a:t>The content catalogue is thin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60720" y="6345936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A79FC7"/>
                </a:solidFill>
                <a:latin typeface="Segoe UI"/>
              </a:rPr>
              <a:t>Curated-first seed scripts · admin publish flow · live Places augmentation when the cache is sparse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4114800" y="6647688"/>
            <a:ext cx="4160520" cy="0"/>
          </a:xfrm>
          <a:prstGeom prst="line">
            <a:avLst/>
          </a:prstGeom>
          <a:ln w="6350">
            <a:solidFill>
              <a:srgbClr val="2A2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8458200" y="5102352"/>
            <a:ext cx="3227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VIABILITY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458200" y="5303520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04504" y="5303520"/>
            <a:ext cx="30815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Hosted models only — nothing trained, nothing self-hosted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458200" y="5533948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04504" y="5533948"/>
            <a:ext cx="30815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Fast-tier model by default, configurable per pipeline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58200" y="5764377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604504" y="5764377"/>
            <a:ext cx="30815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Response caching, per-user rate limits, token accounting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58200" y="599480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04504" y="5994806"/>
            <a:ext cx="30815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A booking-partner path exists in the schema but is not required to validate the MVP  (PRD §3.4, §29)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F2FF"/>
                </a:solidFill>
                <a:latin typeface="Segoe U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566928" cy="411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A79FC7"/>
                </a:solidFill>
                <a:latin typeface="Segoe UI"/>
              </a:rPr>
              <a:t>The interesting engineering is not the model call. It is everything that constrains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355080" cy="566928"/>
          </a:xfrm>
          <a:prstGeom prst="roundRect">
            <a:avLst>
              <a:gd name="adj" fmla="val 16129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17904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React Native + Expo ·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746504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28 screens · 6 UI languages · session in device secure storage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435608" y="1988819"/>
            <a:ext cx="91440" cy="77724"/>
          </a:xfrm>
          <a:prstGeom prst="down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66543"/>
            <a:ext cx="6355080" cy="603504"/>
          </a:xfrm>
          <a:prstGeom prst="roundRect">
            <a:avLst>
              <a:gd name="adj" fmla="val 15151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167127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FastAPI  /v1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395727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21 routers · 73 endpoints · ES256 token verification via JWKS · one response envelope · per-user rate limit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435608" y="2674620"/>
            <a:ext cx="91440" cy="77724"/>
          </a:xfrm>
          <a:prstGeom prst="down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752344"/>
            <a:ext cx="6355080" cy="640080"/>
          </a:xfrm>
          <a:prstGeom prst="roundRect">
            <a:avLst>
              <a:gd name="adj" fmla="val 14285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62072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852927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35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081527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itinerary · modification · narration · photo Q&amp;A · personalization · business rules · location · safety · budget · group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35608" y="3396996"/>
            <a:ext cx="91440" cy="77724"/>
          </a:xfrm>
          <a:prstGeom prst="down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474720"/>
            <a:ext cx="6355080" cy="987552"/>
          </a:xfrm>
          <a:prstGeom prst="roundRect">
            <a:avLst>
              <a:gd name="adj" fmla="val 9259"/>
            </a:avLst>
          </a:prstGeom>
          <a:solidFill>
            <a:srgbClr val="221E3F"/>
          </a:solidFill>
          <a:ln w="1587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LLM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575303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one Protocol:  complete · complete_multimodal · complete_audio · embed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4005072"/>
            <a:ext cx="2290572" cy="402336"/>
          </a:xfrm>
          <a:prstGeom prst="roundRect">
            <a:avLst>
              <a:gd name="adj" fmla="val 15909"/>
            </a:avLst>
          </a:prstGeom>
          <a:solidFill>
            <a:srgbClr val="633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75688" y="4050791"/>
            <a:ext cx="20711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Gemini adapter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4224528"/>
            <a:ext cx="20711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FFFFFF"/>
                </a:solidFill>
                <a:latin typeface="Segoe UI"/>
              </a:rPr>
              <a:t>the only file that imports a vendor SDK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9412" y="4005072"/>
            <a:ext cx="2290572" cy="402336"/>
          </a:xfrm>
          <a:prstGeom prst="roundRect">
            <a:avLst>
              <a:gd name="adj" fmla="val 15909"/>
            </a:avLst>
          </a:prstGeom>
          <a:noFill/>
          <a:ln w="12700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9140" y="4050791"/>
            <a:ext cx="20711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F6892"/>
                </a:solidFill>
                <a:latin typeface="Segoe UI"/>
              </a:rPr>
              <a:t>second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9140" y="4224528"/>
            <a:ext cx="20711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F6892"/>
                </a:solidFill>
                <a:latin typeface="Segoe UI"/>
              </a:rPr>
              <a:t>one adapter class — the vendor is a config value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435608" y="4466844"/>
            <a:ext cx="91440" cy="77724"/>
          </a:xfrm>
          <a:prstGeom prst="down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544568"/>
            <a:ext cx="6355080" cy="585216"/>
          </a:xfrm>
          <a:prstGeom prst="roundRect">
            <a:avLst>
              <a:gd name="adj" fmla="val 15625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65429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645152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4F2FF"/>
                </a:solidFill>
                <a:latin typeface="Segoe UI"/>
              </a:rPr>
              <a:t>Supabase 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873752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38 tables · Row-Level Security on 37 · PostGIS · pgvector(1536)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1435608" y="5134355"/>
            <a:ext cx="91440" cy="77724"/>
          </a:xfrm>
          <a:prstGeom prst="downArrow">
            <a:avLst/>
          </a:prstGeom>
          <a:solidFill>
            <a:srgbClr val="6F6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212079"/>
            <a:ext cx="6355080" cy="475488"/>
          </a:xfrm>
          <a:prstGeom prst="roundRect">
            <a:avLst>
              <a:gd name="adj" fmla="val 19230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21807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EXTERNAL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340095"/>
            <a:ext cx="1303020" cy="256032"/>
          </a:xfrm>
          <a:prstGeom prst="roundRect">
            <a:avLst>
              <a:gd name="adj" fmla="val 21428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Geoapify Places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78708" y="5340095"/>
            <a:ext cx="960120" cy="256032"/>
          </a:xfrm>
          <a:prstGeom prst="roundRect">
            <a:avLst>
              <a:gd name="adj" fmla="val 21428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Open-Meteo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8556" y="5340095"/>
            <a:ext cx="1371600" cy="256032"/>
          </a:xfrm>
          <a:prstGeom prst="roundRect">
            <a:avLst>
              <a:gd name="adj" fmla="val 21428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Supabase Storage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9884" y="5340095"/>
            <a:ext cx="891539" cy="256032"/>
          </a:xfrm>
          <a:prstGeom prst="roundRect">
            <a:avLst>
              <a:gd name="adj" fmla="val 21428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79FC7"/>
                </a:solidFill>
                <a:latin typeface="Segoe UI"/>
              </a:rPr>
              <a:t>Expo Push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8873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" y="5888736"/>
            <a:ext cx="2903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0">
                <a:solidFill>
                  <a:srgbClr val="6F6892"/>
                </a:solidFill>
                <a:latin typeface="Segoe UI"/>
              </a:rPr>
              <a:t>A vendor SDK is imported in exactly one file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0460" y="588873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8476" y="5888736"/>
            <a:ext cx="2903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0">
                <a:solidFill>
                  <a:srgbClr val="6F6892"/>
                </a:solidFill>
                <a:latin typeface="Segoe UI"/>
              </a:rPr>
              <a:t>9 versioned prompt modules — no prompt is written inline in a 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16305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" y="6163056"/>
            <a:ext cx="2903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0">
                <a:solidFill>
                  <a:srgbClr val="6F6892"/>
                </a:solidFill>
                <a:latin typeface="Segoe UI"/>
              </a:rPr>
              <a:t>Every structured output passes through one parse-and-validate choke 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0460" y="6163056"/>
            <a:ext cx="109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7C5CFC"/>
                </a:solidFill>
                <a:latin typeface="Segoe UI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08476" y="6163056"/>
            <a:ext cx="2903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0">
                <a:solidFill>
                  <a:srgbClr val="6F6892"/>
                </a:solidFill>
                <a:latin typeface="Segoe UI"/>
              </a:rPr>
              <a:t>Confidence comes from retrieval similarity — never from asking the model if it is sure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1417320"/>
            <a:ext cx="4553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HOW A PLAN IS BUILT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1636776"/>
            <a:ext cx="4553712" cy="347472"/>
          </a:xfrm>
          <a:prstGeom prst="roundRect">
            <a:avLst>
              <a:gd name="adj" fmla="val 21052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260336" y="1728216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0336" y="1741932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B0A18"/>
                </a:solidFill>
                <a:latin typeface="Segoe U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16368" y="172821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Rule-filtered candidates pulled from the database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0" y="2052828"/>
            <a:ext cx="4553712" cy="347472"/>
          </a:xfrm>
          <a:prstGeom prst="roundRect">
            <a:avLst>
              <a:gd name="adj" fmla="val 21052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60336" y="2144268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0336" y="215798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B0A18"/>
                </a:solidFill>
                <a:latin typeface="Segoe U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6368" y="214426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The prompt carries them as a numbered list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2320" y="2468880"/>
            <a:ext cx="4553712" cy="347472"/>
          </a:xfrm>
          <a:prstGeom prst="roundRect">
            <a:avLst>
              <a:gd name="adj" fmla="val 21052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60336" y="2560320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0336" y="2574036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B0A18"/>
                </a:solidFill>
                <a:latin typeface="Segoe U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16368" y="256032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Structured output, validated against a schema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0" y="2884932"/>
            <a:ext cx="4553712" cy="347472"/>
          </a:xfrm>
          <a:prstGeom prst="roundRect">
            <a:avLst>
              <a:gd name="adj" fmla="val 21052"/>
            </a:avLst>
          </a:prstGeom>
          <a:solidFill>
            <a:srgbClr val="221E3F"/>
          </a:solidFill>
          <a:ln w="12700">
            <a:solidFill>
              <a:srgbClr val="F5B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260336" y="2976372"/>
            <a:ext cx="164592" cy="164592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0336" y="2990088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B0A18"/>
                </a:solidFill>
                <a:latin typeface="Segoe U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16368" y="297637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Any out-of-range index is rejected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3300984"/>
            <a:ext cx="4553712" cy="347472"/>
          </a:xfrm>
          <a:prstGeom prst="roundRect">
            <a:avLst>
              <a:gd name="adj" fmla="val 21052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260336" y="3392424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60336" y="3406140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B0A18"/>
                </a:solidFill>
                <a:latin typeface="Segoe U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8" y="3392424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Deterministic rule validator runs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0" y="3717036"/>
            <a:ext cx="4553712" cy="347472"/>
          </a:xfrm>
          <a:prstGeom prst="roundRect">
            <a:avLst>
              <a:gd name="adj" fmla="val 21052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60336" y="3808476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0336" y="3822192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B0A18"/>
                </a:solidFill>
                <a:latin typeface="Segoe U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16368" y="380847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Persisted, day by day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4169664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84FC"/>
                </a:solidFill>
                <a:latin typeface="Segoe UI"/>
              </a:rPr>
              <a:t>The model composes.  The database and the validator decide.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4590288"/>
            <a:ext cx="4553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WHEN THE AI FAILS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132320" y="4809744"/>
            <a:ext cx="4553712" cy="274320"/>
          </a:xfrm>
          <a:prstGeom prst="roundRect">
            <a:avLst>
              <a:gd name="adj" fmla="val 23333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78624" y="4869180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Model responds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78624" y="5143500"/>
            <a:ext cx="4407408" cy="274320"/>
          </a:xfrm>
          <a:prstGeom prst="roundRect">
            <a:avLst>
              <a:gd name="adj" fmla="val 23333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4927" y="5202936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Model fails or times out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24927" y="5477256"/>
            <a:ext cx="4261104" cy="274320"/>
          </a:xfrm>
          <a:prstGeom prst="roundRect">
            <a:avLst>
              <a:gd name="adj" fmla="val 23333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71231" y="5536692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Deterministic plan from real database places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71231" y="5811012"/>
            <a:ext cx="4114800" cy="274320"/>
          </a:xfrm>
          <a:prstGeom prst="roundRect">
            <a:avLst>
              <a:gd name="adj" fmla="val 23333"/>
            </a:avLst>
          </a:prstGeom>
          <a:solidFill>
            <a:srgbClr val="131128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17536" y="5870448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0A5FA"/>
                </a:solidFill>
                <a:latin typeface="Segoe UI"/>
              </a:rPr>
              <a:t>Honest error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32320" y="6199632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84FC"/>
                </a:solidFill>
                <a:latin typeface="Segoe UI"/>
              </a:rPr>
              <a:t>It never fabricates a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F2FF"/>
                </a:solidFill>
                <a:latin typeface="Segoe UI"/>
              </a:rPr>
              <a:t>Innovation &amp; Uniqueness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566928" cy="411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4F2FF"/>
                </a:solidFill>
                <a:latin typeface="Segoe UI"/>
              </a:rPr>
              <a:t>A general model can produce a plan.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4F2FF"/>
                </a:solidFill>
                <a:latin typeface="Segoe UI"/>
              </a:rPr>
              <a:t>YATRA is the system that carries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55648"/>
            <a:ext cx="3886200" cy="2395728"/>
          </a:xfrm>
          <a:prstGeom prst="roundRect">
            <a:avLst>
              <a:gd name="adj" fmla="val 3816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01952"/>
            <a:ext cx="3483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F6892"/>
                </a:solidFill>
                <a:latin typeface="Segoe UI"/>
              </a:rPr>
              <a:t>A GENERAL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157984"/>
            <a:ext cx="3483864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A79FC7"/>
                </a:solidFill>
                <a:latin typeface="Segoe UI"/>
              </a:rPr>
              <a:t>One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651760"/>
            <a:ext cx="3483864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F6892"/>
                </a:solidFill>
                <a:latin typeface="Segoe UI"/>
              </a:rPr>
              <a:t>no profile that persists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994660"/>
            <a:ext cx="3483864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F6892"/>
                </a:solidFill>
                <a:latin typeface="Segoe UI"/>
              </a:rPr>
              <a:t>no trip that has a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337560"/>
            <a:ext cx="3483864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F6892"/>
                </a:solidFill>
                <a:latin typeface="Segoe UI"/>
              </a:rPr>
              <a:t>no place data it can be held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3680460"/>
            <a:ext cx="3483864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F6892"/>
                </a:solidFill>
                <a:latin typeface="Segoe UI"/>
              </a:rPr>
              <a:t>no memory of what you rejected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755648"/>
            <a:ext cx="7068312" cy="2395728"/>
          </a:xfrm>
          <a:prstGeom prst="roundRect">
            <a:avLst>
              <a:gd name="adj" fmla="val 3816"/>
            </a:avLst>
          </a:prstGeom>
          <a:solidFill>
            <a:srgbClr val="131128"/>
          </a:solidFill>
          <a:ln w="15875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901952"/>
            <a:ext cx="6702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C5CFC"/>
                </a:solidFill>
                <a:latin typeface="Segoe UI"/>
              </a:rPr>
              <a:t>YATRA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157984"/>
            <a:ext cx="6702552" cy="365760"/>
          </a:xfrm>
          <a:prstGeom prst="roundRect">
            <a:avLst>
              <a:gd name="adj" fmla="val 17500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A79FC7"/>
                </a:solidFill>
                <a:latin typeface="Segoe UI"/>
              </a:rPr>
              <a:t>One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651760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2702052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Profile &amp; interests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9098" y="2729484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profiles, profile_interests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5883" y="2651760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5611" y="2702052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Travel DNA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4382" y="2729484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personalization_profile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012948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8" y="3063240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Trip &amp; itinerary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9098" y="3090672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trips, itinerary_items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5883" y="3012948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5611" y="3063240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What you accepted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4382" y="3090672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feedback_signals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3374136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3424428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Where you are, if you allow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9098" y="3451860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location_pings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5883" y="3374136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5611" y="3424428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Curated places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4382" y="3451860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pois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3735324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3785615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Grounded heritage + citations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9098" y="3813048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heritage_content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5883" y="3735324"/>
            <a:ext cx="3287268" cy="310896"/>
          </a:xfrm>
          <a:prstGeom prst="roundRect">
            <a:avLst>
              <a:gd name="adj" fmla="val 17647"/>
            </a:avLst>
          </a:prstGeom>
          <a:solidFill>
            <a:srgbClr val="1A1730"/>
          </a:solidFill>
          <a:ln w="9525">
            <a:solidFill>
              <a:srgbClr val="2A2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5611" y="3785615"/>
            <a:ext cx="16436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4F2FF"/>
                </a:solidFill>
                <a:latin typeface="Segoe UI"/>
              </a:rPr>
              <a:t>Your memories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14382" y="3813048"/>
            <a:ext cx="14607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7C5CFC"/>
                </a:solidFill>
                <a:latin typeface="Consolas"/>
              </a:rPr>
              <a:t>memory_items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242816"/>
            <a:ext cx="111858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C084FC"/>
                </a:solidFill>
                <a:latin typeface="Segoe UI"/>
              </a:rPr>
              <a:t>The difference is not the model. It is what is still there tomorrow.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572000"/>
            <a:ext cx="2703880" cy="1426464"/>
          </a:xfrm>
          <a:prstGeom prst="roundRect">
            <a:avLst>
              <a:gd name="adj" fmla="val 6410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" y="4736592"/>
            <a:ext cx="274320" cy="3200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4846320"/>
            <a:ext cx="2374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Invented places are structurally impossible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21808"/>
            <a:ext cx="2374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Candidates are numbered before the prompt is built. An index outside that range is rejected before anything is saved — proven by a live test asserting every scheduled place exists in the database set.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0244" y="4572000"/>
            <a:ext cx="2703880" cy="1426464"/>
          </a:xfrm>
          <a:prstGeom prst="roundRect">
            <a:avLst>
              <a:gd name="adj" fmla="val 6410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94836" y="4736592"/>
            <a:ext cx="274320" cy="3200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94836" y="4846320"/>
            <a:ext cx="2374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Confidence is measured, not self-reported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4836" y="5321808"/>
            <a:ext cx="2374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It is derived from retrieval similarity, then shown to the traveller as “Not fully verified — please confirm locally.” We never ask the model whether it is sure.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57569" y="4572000"/>
            <a:ext cx="2703880" cy="1426464"/>
          </a:xfrm>
          <a:prstGeom prst="roundRect">
            <a:avLst>
              <a:gd name="adj" fmla="val 6410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22161" y="4736592"/>
            <a:ext cx="274320" cy="3200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2161" y="4846320"/>
            <a:ext cx="2374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The validator overrules the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2161" y="5321808"/>
            <a:ext cx="2374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An AI-proposed change that creates a new overlap or an impossible travel time is vetoed, and the conflict is explained back to the traveller instead.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4894" y="4572000"/>
            <a:ext cx="2703880" cy="1426464"/>
          </a:xfrm>
          <a:prstGeom prst="roundRect">
            <a:avLst>
              <a:gd name="adj" fmla="val 6410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9486" y="4736592"/>
            <a:ext cx="274320" cy="3200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9486" y="4846320"/>
            <a:ext cx="2374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Degradation is a designed feature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9486" y="5321808"/>
            <a:ext cx="2374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Every AI path has a real non-AI path, and the app is told when it is on one. The product still works on the day the model does not.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1081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F6892"/>
                </a:solidFill>
                <a:latin typeface="Segoe UI"/>
              </a:rPr>
              <a:t>NEXT — NOT NOW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6309360"/>
            <a:ext cx="2646273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F6892"/>
                </a:solidFill>
                <a:latin typeface="Segoe UI"/>
              </a:rPr>
              <a:t>Semantic layer over the heritage corpus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68065" y="6309360"/>
            <a:ext cx="2706624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F6892"/>
                </a:solidFill>
                <a:latin typeface="Segoe UI"/>
              </a:rPr>
              <a:t>Ranking learned from accumulated signals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93561" y="6309360"/>
            <a:ext cx="1922068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F6892"/>
                </a:solidFill>
                <a:latin typeface="Segoe UI"/>
              </a:rPr>
              <a:t>Proactive on-trip companion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4502" y="6309360"/>
            <a:ext cx="1077163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F6892"/>
                </a:solidFill>
                <a:latin typeface="Segoe UI"/>
              </a:rPr>
              <a:t>Booking layer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30537" y="6309360"/>
            <a:ext cx="1861718" cy="27432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F6892"/>
                </a:solidFill>
                <a:latin typeface="Segoe UI"/>
              </a:rPr>
              <a:t>“What if?” trip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F2FF"/>
                </a:solidFill>
                <a:latin typeface="Segoe UI"/>
              </a:rPr>
              <a:t>One Traveller,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566928" cy="41148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A79FC7"/>
                </a:solidFill>
                <a:latin typeface="Segoe UI"/>
              </a:rPr>
              <a:t>Every beat below is running code. The marks say exactly which.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675120" cy="749808"/>
          </a:xfrm>
          <a:prstGeom prst="roundRect">
            <a:avLst>
              <a:gd name="adj" fmla="val 12195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633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15636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4F2FF"/>
                </a:solidFill>
                <a:latin typeface="Segoe UI"/>
              </a:rPr>
              <a:t>Meera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1837943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79FC7"/>
                </a:solidFill>
                <a:latin typeface="Segoe UI"/>
              </a:rPr>
              <a:t>26 · IT professional, Chennai · travelling solo · Delhi + Agra · ~₹15,000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0428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47802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1002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38658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Signs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236829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Five onboarding screens become a profile that persists — interests, pace, budget, who she travels with, why.</a:t>
            </a:r>
          </a:p>
        </p:txBody>
      </p:sp>
      <p:sp>
        <p:nvSpPr>
          <p:cNvPr id="16" name="Oval 15"/>
          <p:cNvSpPr/>
          <p:nvPr/>
        </p:nvSpPr>
        <p:spPr>
          <a:xfrm>
            <a:off x="6958583" y="2532888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89864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307238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1043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298094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Pastes her own ideas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296265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“The Taj at sunrise” is extracted and matched to a real place row. What can't be matched is shown back, never dropped.</a:t>
            </a:r>
          </a:p>
        </p:txBody>
      </p:sp>
      <p:sp>
        <p:nvSpPr>
          <p:cNvPr id="22" name="Oval 21"/>
          <p:cNvSpPr/>
          <p:nvPr/>
        </p:nvSpPr>
        <p:spPr>
          <a:xfrm>
            <a:off x="6958583" y="312724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49300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366674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69874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57530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Asks for a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4328" y="355701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Candidates come from the database. The model composes. Budget, overlaps and travel time are checked deterministically.</a:t>
            </a:r>
          </a:p>
        </p:txBody>
      </p:sp>
      <p:sp>
        <p:nvSpPr>
          <p:cNvPr id="28" name="Oval 27"/>
          <p:cNvSpPr/>
          <p:nvPr/>
        </p:nvSpPr>
        <p:spPr>
          <a:xfrm>
            <a:off x="6958583" y="372160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08736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" y="426110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29310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416966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“Make it more relaxed”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415137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Two stops are rescheduled. The rest of the plan is left exactly as it was — a scoped change, not a regeneration.</a:t>
            </a:r>
          </a:p>
        </p:txBody>
      </p:sp>
      <p:sp>
        <p:nvSpPr>
          <p:cNvPr id="34" name="Oval 33"/>
          <p:cNvSpPr/>
          <p:nvPr/>
        </p:nvSpPr>
        <p:spPr>
          <a:xfrm>
            <a:off x="6958583" y="431596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468172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7512" y="485546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88746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476402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Lands in Delhi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474573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Location sharing is per-trip and off by default. Arrival and nearby suggestions follow — or she taps “I'm here”.</a:t>
            </a:r>
          </a:p>
        </p:txBody>
      </p:sp>
      <p:sp>
        <p:nvSpPr>
          <p:cNvPr id="40" name="Oval 39"/>
          <p:cNvSpPr/>
          <p:nvPr/>
        </p:nvSpPr>
        <p:spPr>
          <a:xfrm>
            <a:off x="6958583" y="4910328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27608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7512" y="544982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48182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5358383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Stands at the Taj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4328" y="534009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Narration grounded in curated content, with its source named. She photographs one detail and asks about it. Low confidence is shown, not smoothed over. A Hindi phrase when she needs one.</a:t>
            </a:r>
          </a:p>
        </p:txBody>
      </p:sp>
      <p:sp>
        <p:nvSpPr>
          <p:cNvPr id="46" name="Oval 45"/>
          <p:cNvSpPr/>
          <p:nvPr/>
        </p:nvSpPr>
        <p:spPr>
          <a:xfrm>
            <a:off x="6958583" y="5504688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587044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3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7512" y="6044184"/>
            <a:ext cx="201168" cy="201168"/>
          </a:xfrm>
          <a:prstGeom prst="ellipse">
            <a:avLst/>
          </a:prstGeom>
          <a:solidFill>
            <a:srgbClr val="22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60761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C084FC"/>
                </a:solidFill>
                <a:latin typeface="Segoe U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" y="595274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>
                <a:solidFill>
                  <a:srgbClr val="F4F2FF"/>
                </a:solidFill>
                <a:latin typeface="Segoe UI"/>
              </a:rPr>
              <a:t>Comes home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24328" y="5934456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Photos and notes kept, a review submitted, every accepted and skipped suggestion recorded. The next trip starts less cold.</a:t>
            </a:r>
          </a:p>
        </p:txBody>
      </p:sp>
      <p:sp>
        <p:nvSpPr>
          <p:cNvPr id="52" name="Oval 51"/>
          <p:cNvSpPr/>
          <p:nvPr/>
        </p:nvSpPr>
        <p:spPr>
          <a:xfrm>
            <a:off x="6958583" y="609904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1417320"/>
            <a:ext cx="42336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C084FC"/>
                </a:solidFill>
                <a:latin typeface="Segoe UI"/>
              </a:rPr>
              <a:t>“I want to see the Taj at sunrise.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C084FC"/>
                </a:solidFill>
                <a:latin typeface="Segoe UI"/>
              </a:rPr>
              <a:t>I love Mughal architecture.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C084FC"/>
                </a:solidFill>
                <a:latin typeface="Segoe UI"/>
              </a:rPr>
              <a:t>Please don't make the days too tight.”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52360" y="2615184"/>
            <a:ext cx="4233672" cy="2304288"/>
          </a:xfrm>
          <a:prstGeom prst="roundRect">
            <a:avLst>
              <a:gd name="adj" fmla="val 3968"/>
            </a:avLst>
          </a:prstGeom>
          <a:solidFill>
            <a:srgbClr val="13112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53528" y="2761488"/>
            <a:ext cx="383133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Segoe UI"/>
              </a:rPr>
              <a:t>THIS IS NOT A STORYBOARD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53528" y="2999232"/>
            <a:ext cx="38313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 i="0">
                <a:solidFill>
                  <a:srgbClr val="A79FC7"/>
                </a:solidFill>
                <a:latin typeface="Segoe UI"/>
              </a:rPr>
              <a:t>On 06 Sep 2026 this exact path was run end to end over real HTTP against the live backend with a real account:</a:t>
            </a:r>
          </a:p>
        </p:txBody>
      </p:sp>
      <p:sp>
        <p:nvSpPr>
          <p:cNvPr id="57" name="Oval 56"/>
          <p:cNvSpPr/>
          <p:nvPr/>
        </p:nvSpPr>
        <p:spPr>
          <a:xfrm>
            <a:off x="7671816" y="3525012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54696" y="3474720"/>
            <a:ext cx="3630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F4F2FF"/>
                </a:solidFill>
                <a:latin typeface="Segoe UI"/>
              </a:rPr>
              <a:t>“make it more relaxed”  →  2 items rescheduled</a:t>
            </a:r>
          </a:p>
        </p:txBody>
      </p:sp>
      <p:sp>
        <p:nvSpPr>
          <p:cNvPr id="59" name="Oval 58"/>
          <p:cNvSpPr/>
          <p:nvPr/>
        </p:nvSpPr>
        <p:spPr>
          <a:xfrm>
            <a:off x="7671816" y="3799331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54696" y="3749039"/>
            <a:ext cx="3630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F4F2FF"/>
                </a:solidFill>
                <a:latin typeface="Segoe UI"/>
              </a:rPr>
              <a:t>“add one historical place that matches my interests”  →  applied</a:t>
            </a:r>
          </a:p>
        </p:txBody>
      </p:sp>
      <p:sp>
        <p:nvSpPr>
          <p:cNvPr id="61" name="Oval 60"/>
          <p:cNvSpPr/>
          <p:nvPr/>
        </p:nvSpPr>
        <p:spPr>
          <a:xfrm>
            <a:off x="7671816" y="4073651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4023359"/>
            <a:ext cx="3630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F4F2FF"/>
                </a:solidFill>
                <a:latin typeface="Segoe UI"/>
              </a:rPr>
              <a:t>“move the outdoor activity”  →  moved to 08:00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53528" y="4370831"/>
            <a:ext cx="38313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 i="1">
                <a:solidFill>
                  <a:srgbClr val="A79FC7"/>
                </a:solidFill>
                <a:latin typeface="Segoe UI"/>
              </a:rPr>
              <a:t>Every reply was genuinely model-generated — real token counts, never the fallback plan. The same run surfaced four real defects in our code, which we fixed.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360" y="5138928"/>
            <a:ext cx="42336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F4F2FF"/>
                </a:solidFill>
                <a:latin typeface="Segoe UI"/>
              </a:rPr>
              <a:t>The plan was never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F4F2FF"/>
                </a:solidFill>
                <a:latin typeface="Segoe UI"/>
              </a:rPr>
              <a:t>the product.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 i="0">
                <a:solidFill>
                  <a:srgbClr val="F4F2FF"/>
                </a:solidFill>
                <a:latin typeface="Segoe UI"/>
              </a:rPr>
              <a:t>The journey is.</a:t>
            </a:r>
          </a:p>
        </p:txBody>
      </p:sp>
      <p:sp>
        <p:nvSpPr>
          <p:cNvPr id="65" name="Oval 64"/>
          <p:cNvSpPr/>
          <p:nvPr/>
        </p:nvSpPr>
        <p:spPr>
          <a:xfrm>
            <a:off x="7452360" y="635965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07808" y="63276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Live</a:t>
            </a:r>
          </a:p>
        </p:txBody>
      </p:sp>
      <p:sp>
        <p:nvSpPr>
          <p:cNvPr id="67" name="Oval 66"/>
          <p:cNvSpPr/>
          <p:nvPr/>
        </p:nvSpPr>
        <p:spPr>
          <a:xfrm>
            <a:off x="9601200" y="6359652"/>
            <a:ext cx="91440" cy="91440"/>
          </a:xfrm>
          <a:prstGeom prst="ellipse">
            <a:avLst/>
          </a:prstGeom>
          <a:solidFill>
            <a:srgbClr val="F5B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56648" y="63276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Live, limited</a:t>
            </a:r>
          </a:p>
        </p:txBody>
      </p:sp>
      <p:sp>
        <p:nvSpPr>
          <p:cNvPr id="69" name="Oval 68"/>
          <p:cNvSpPr/>
          <p:nvPr/>
        </p:nvSpPr>
        <p:spPr>
          <a:xfrm>
            <a:off x="7452360" y="656996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07808" y="653796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Built, awaiting a credential</a:t>
            </a:r>
          </a:p>
        </p:txBody>
      </p:sp>
      <p:sp>
        <p:nvSpPr>
          <p:cNvPr id="71" name="Oval 70"/>
          <p:cNvSpPr/>
          <p:nvPr/>
        </p:nvSpPr>
        <p:spPr>
          <a:xfrm>
            <a:off x="9601200" y="6569964"/>
            <a:ext cx="91440" cy="91440"/>
          </a:xfrm>
          <a:prstGeom prst="ellipse">
            <a:avLst/>
          </a:prstGeom>
          <a:noFill/>
          <a:ln w="15875">
            <a:solidFill>
              <a:srgbClr val="6F68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56648" y="653796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A79FC7"/>
                </a:solidFill>
                <a:latin typeface="Segoe UI"/>
              </a:rPr>
              <a:t>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